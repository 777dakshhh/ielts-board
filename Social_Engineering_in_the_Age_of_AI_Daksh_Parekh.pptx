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40080"/>
            <a:ext cx="10728655" cy="5349240"/>
          </a:xfrm>
          <a:prstGeom prst="roundRect">
            <a:avLst/>
          </a:prstGeom>
          <a:solidFill>
            <a:srgbClr val="0F172A"/>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88720" y="1051560"/>
            <a:ext cx="5303520" cy="329184"/>
          </a:xfrm>
          <a:prstGeom prst="roundRect">
            <a:avLst/>
          </a:prstGeom>
          <a:solidFill>
            <a:srgbClr val="0C4A6E"/>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BAE6FD"/>
                </a:solidFill>
                <a:latin typeface="Helvetica"/>
              </a:defRPr>
            </a:pPr>
            <a:r>
              <a:t>ACTIVE LEARNING ACTIVITY • CYBER SECURITY (US07HMABCA02)</a:t>
            </a:r>
          </a:p>
        </p:txBody>
      </p:sp>
      <p:sp>
        <p:nvSpPr>
          <p:cNvPr id="5" name="TextBox 4"/>
          <p:cNvSpPr txBox="1"/>
          <p:nvPr/>
        </p:nvSpPr>
        <p:spPr>
          <a:xfrm>
            <a:off x="1188720" y="1600200"/>
            <a:ext cx="9784080" cy="1280160"/>
          </a:xfrm>
          <a:prstGeom prst="rect">
            <a:avLst/>
          </a:prstGeom>
          <a:noFill/>
        </p:spPr>
        <p:txBody>
          <a:bodyPr wrap="square" lIns="0" rIns="0" tIns="0" bIns="0">
            <a:spAutoFit/>
          </a:bodyPr>
          <a:lstStyle/>
          <a:p>
            <a:pPr>
              <a:spcAft>
                <a:spcPts val="1000"/>
              </a:spcAft>
              <a:defRPr sz="3200" b="1">
                <a:solidFill>
                  <a:srgbClr val="F8FAFC"/>
                </a:solidFill>
                <a:latin typeface="Helvetica"/>
              </a:defRPr>
            </a:pPr>
            <a:r>
              <a:t>SOCIAL ENGINEERING IN THE AGE OF AI</a:t>
            </a:r>
          </a:p>
          <a:p>
            <a:pPr>
              <a:defRPr sz="1650" b="1">
                <a:solidFill>
                  <a:srgbClr val="38BDF8"/>
                </a:solidFill>
                <a:latin typeface="Arial"/>
              </a:defRPr>
            </a:pPr>
            <a:r>
              <a:t>How Technology Is Changing the Way Cybercriminals Exploit Trust</a:t>
            </a:r>
          </a:p>
        </p:txBody>
      </p:sp>
      <p:sp>
        <p:nvSpPr>
          <p:cNvPr id="6" name="Rectangle 5"/>
          <p:cNvSpPr/>
          <p:nvPr/>
        </p:nvSpPr>
        <p:spPr>
          <a:xfrm>
            <a:off x="1188720" y="3017520"/>
            <a:ext cx="9784080"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88720" y="3291840"/>
            <a:ext cx="4709160" cy="2194560"/>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100" b="1">
                <a:solidFill>
                  <a:srgbClr val="38BDF8"/>
                </a:solidFill>
                <a:latin typeface="Helvetica"/>
              </a:defRPr>
            </a:pPr>
            <a:r>
              <a:t>PRESENTER INFORMATION</a:t>
            </a:r>
          </a:p>
          <a:p>
            <a:pPr>
              <a:spcAft>
                <a:spcPts val="300"/>
              </a:spcAft>
            </a:pPr>
            <a:r>
              <a:rPr sz="1050">
                <a:solidFill>
                  <a:srgbClr val="94A3B8"/>
                </a:solidFill>
                <a:latin typeface="Arial"/>
              </a:rPr>
              <a:t>Candidate Name: </a:t>
            </a:r>
            <a:r>
              <a:rPr sz="1050" b="1">
                <a:solidFill>
                  <a:srgbClr val="F8FAFC"/>
                </a:solidFill>
                <a:latin typeface="Arial"/>
              </a:rPr>
              <a:t>Daksh Parekh</a:t>
            </a:r>
          </a:p>
          <a:p>
            <a:pPr>
              <a:spcAft>
                <a:spcPts val="300"/>
              </a:spcAft>
            </a:pPr>
            <a:r>
              <a:rPr sz="1050">
                <a:solidFill>
                  <a:srgbClr val="94A3B8"/>
                </a:solidFill>
                <a:latin typeface="Arial"/>
              </a:rPr>
              <a:t>Degree Programme: </a:t>
            </a:r>
            <a:r>
              <a:rPr sz="1050" b="1">
                <a:solidFill>
                  <a:srgbClr val="F8FAFC"/>
                </a:solidFill>
                <a:latin typeface="Arial"/>
              </a:rPr>
              <a:t>B.Sc. Computer Applications &amp; IT</a:t>
            </a:r>
          </a:p>
          <a:p>
            <a:pPr>
              <a:spcAft>
                <a:spcPts val="300"/>
              </a:spcAft>
            </a:pPr>
            <a:r>
              <a:rPr sz="1050">
                <a:solidFill>
                  <a:srgbClr val="94A3B8"/>
                </a:solidFill>
                <a:latin typeface="Arial"/>
              </a:rPr>
              <a:t>Course Structure: </a:t>
            </a:r>
            <a:r>
              <a:rPr sz="1050" b="1">
                <a:solidFill>
                  <a:srgbClr val="F8FAFC"/>
                </a:solidFill>
                <a:latin typeface="Arial"/>
              </a:rPr>
              <a:t>4-Year Honours Degree</a:t>
            </a:r>
          </a:p>
          <a:p>
            <a:pPr>
              <a:spcAft>
                <a:spcPts val="300"/>
              </a:spcAft>
            </a:pPr>
            <a:r>
              <a:rPr sz="1050">
                <a:solidFill>
                  <a:srgbClr val="94A3B8"/>
                </a:solidFill>
                <a:latin typeface="Arial"/>
              </a:rPr>
              <a:t>Academic Year: </a:t>
            </a:r>
            <a:r>
              <a:rPr sz="1050" b="1">
                <a:solidFill>
                  <a:srgbClr val="F8FAFC"/>
                </a:solidFill>
                <a:latin typeface="Arial"/>
              </a:rPr>
              <a:t>2026–27</a:t>
            </a:r>
          </a:p>
        </p:txBody>
      </p:sp>
      <p:sp>
        <p:nvSpPr>
          <p:cNvPr id="8" name="Rounded Rectangle 7"/>
          <p:cNvSpPr/>
          <p:nvPr/>
        </p:nvSpPr>
        <p:spPr>
          <a:xfrm>
            <a:off x="6263640" y="3291840"/>
            <a:ext cx="4709160" cy="2194560"/>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bIns="182880"/>
          <a:lstStyle/>
          <a:p>
            <a:pPr algn="ctr">
              <a:spcAft>
                <a:spcPts val="800"/>
              </a:spcAft>
              <a:defRPr sz="1100" b="1">
                <a:solidFill>
                  <a:srgbClr val="34D399"/>
                </a:solidFill>
                <a:latin typeface="Helvetica"/>
              </a:defRPr>
            </a:pPr>
            <a:r>
              <a:t>CURRICULAR CONTEXT &amp; SCOPE</a:t>
            </a:r>
          </a:p>
          <a:p>
            <a:pPr>
              <a:spcAft>
                <a:spcPts val="300"/>
              </a:spcAft>
            </a:pPr>
            <a:r>
              <a:rPr sz="1050">
                <a:solidFill>
                  <a:srgbClr val="94A3B8"/>
                </a:solidFill>
                <a:latin typeface="Arial"/>
              </a:rPr>
              <a:t>Course Title: </a:t>
            </a:r>
            <a:r>
              <a:rPr sz="1050" b="1">
                <a:solidFill>
                  <a:srgbClr val="F8FAFC"/>
                </a:solidFill>
                <a:latin typeface="Arial"/>
              </a:rPr>
              <a:t>Fundamentals of Cyber Security</a:t>
            </a:r>
          </a:p>
          <a:p>
            <a:pPr>
              <a:spcAft>
                <a:spcPts val="300"/>
              </a:spcAft>
            </a:pPr>
            <a:r>
              <a:rPr sz="1050">
                <a:solidFill>
                  <a:srgbClr val="94A3B8"/>
                </a:solidFill>
                <a:latin typeface="Arial"/>
              </a:rPr>
              <a:t>Course Code: </a:t>
            </a:r>
            <a:r>
              <a:rPr sz="1050" b="1">
                <a:solidFill>
                  <a:srgbClr val="F8FAFC"/>
                </a:solidFill>
                <a:latin typeface="Arial"/>
              </a:rPr>
              <a:t>US07HMABCA02</a:t>
            </a:r>
          </a:p>
          <a:p>
            <a:pPr>
              <a:spcAft>
                <a:spcPts val="300"/>
              </a:spcAft>
            </a:pPr>
            <a:r>
              <a:rPr sz="1050">
                <a:solidFill>
                  <a:srgbClr val="94A3B8"/>
                </a:solidFill>
                <a:latin typeface="Arial"/>
              </a:rPr>
              <a:t>Syllabus Alignment: </a:t>
            </a:r>
            <a:r>
              <a:rPr sz="1050" b="1">
                <a:solidFill>
                  <a:srgbClr val="F8FAFC"/>
                </a:solidFill>
                <a:latin typeface="Arial"/>
              </a:rPr>
              <a:t>Units 1–3 (Social Eng., Threats, Defense)</a:t>
            </a:r>
          </a:p>
          <a:p>
            <a:pPr>
              <a:spcAft>
                <a:spcPts val="300"/>
              </a:spcAft>
            </a:pPr>
            <a:r>
              <a:rPr sz="1050">
                <a:solidFill>
                  <a:srgbClr val="94A3B8"/>
                </a:solidFill>
                <a:latin typeface="Arial"/>
              </a:rPr>
              <a:t>Evaluation Component: </a:t>
            </a:r>
            <a:r>
              <a:rPr sz="1050" b="1">
                <a:solidFill>
                  <a:srgbClr val="F8FAFC"/>
                </a:solidFill>
                <a:latin typeface="Arial"/>
              </a:rPr>
              <a:t>Active Learning Activity (5 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CONCEPTUAL INQUIRY • THE PERIMETER PARADOX</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Can a Secure System Be Compromised Without Breaking Into It?</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Why modern security architectures cannot rely entirely on algorithmic and network defenses</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2 of 14</a:t>
            </a:r>
          </a:p>
        </p:txBody>
      </p:sp>
      <p:sp>
        <p:nvSpPr>
          <p:cNvPr id="11" name="Rounded Rectangle 10"/>
          <p:cNvSpPr/>
          <p:nvPr/>
        </p:nvSpPr>
        <p:spPr>
          <a:xfrm>
            <a:off x="731520" y="1600200"/>
            <a:ext cx="10728655" cy="123444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400"/>
              </a:spcAft>
              <a:defRPr sz="1050" b="1">
                <a:solidFill>
                  <a:srgbClr val="38BDF8"/>
                </a:solidFill>
                <a:latin typeface="Helvetica"/>
              </a:defRPr>
            </a:pPr>
            <a:r>
              <a:t>THE CENTRAL REVELATION</a:t>
            </a:r>
          </a:p>
          <a:p>
            <a:pPr>
              <a:spcAft>
                <a:spcPts val="400"/>
              </a:spcAft>
            </a:pPr>
            <a:r>
              <a:rPr sz="1400" b="1">
                <a:solidFill>
                  <a:srgbClr val="F8FAFC"/>
                </a:solidFill>
                <a:latin typeface="Helvetica"/>
              </a:rPr>
              <a:t>Attackers do not always target technical system flaws. Frequently, they target the person operating the system.</a:t>
            </a:r>
          </a:p>
          <a:p>
            <a:pPr>
              <a:defRPr sz="1100">
                <a:solidFill>
                  <a:srgbClr val="CBD5E1"/>
                </a:solidFill>
                <a:latin typeface="Arial"/>
              </a:defRPr>
            </a:pPr>
            <a:r>
              <a:t>While modern cryptography and enterprise firewalls withstand direct brute-force computation, social engineering bypasses encryption entirely by inducing legitimate authorized users to open the gates themselves.</a:t>
            </a:r>
          </a:p>
        </p:txBody>
      </p:sp>
      <p:sp>
        <p:nvSpPr>
          <p:cNvPr id="12" name="Rounded Rectangle 11"/>
          <p:cNvSpPr/>
          <p:nvPr/>
        </p:nvSpPr>
        <p:spPr>
          <a:xfrm>
            <a:off x="731520" y="3063240"/>
            <a:ext cx="2468880" cy="214884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38BDF8"/>
                </a:solidFill>
                <a:latin typeface="Helvetica"/>
              </a:defRPr>
            </a:pPr>
            <a:r>
              <a:t>1. TRUST</a:t>
            </a:r>
          </a:p>
          <a:p>
            <a:pPr>
              <a:spcAft>
                <a:spcPts val="200"/>
              </a:spcAft>
              <a:defRPr sz="900" b="1">
                <a:solidFill>
                  <a:srgbClr val="F8FAFC"/>
                </a:solidFill>
                <a:latin typeface="Helvetica"/>
              </a:defRPr>
            </a:pPr>
            <a:r>
              <a:t>BASELINE ESTABLISHMENT</a:t>
            </a:r>
          </a:p>
          <a:p>
            <a:pPr>
              <a:spcAft>
                <a:spcPts val="500"/>
              </a:spcAft>
              <a:defRPr sz="950">
                <a:solidFill>
                  <a:srgbClr val="94A3B8"/>
                </a:solidFill>
                <a:latin typeface="Arial"/>
              </a:defRPr>
            </a:pPr>
            <a:r>
              <a:t>Targets rely on established digital trust: familiar company brands, management personas, or communication channels.</a:t>
            </a:r>
          </a:p>
          <a:p>
            <a:pPr>
              <a:spcAft>
                <a:spcPts val="200"/>
              </a:spcAft>
              <a:defRPr sz="900" b="1">
                <a:solidFill>
                  <a:srgbClr val="F8FAFC"/>
                </a:solidFill>
                <a:latin typeface="Helvetica"/>
              </a:defRPr>
            </a:pPr>
            <a:r>
              <a:t>COGNITIVE SHORTCUT</a:t>
            </a:r>
          </a:p>
          <a:p>
            <a:pPr>
              <a:spcAft>
                <a:spcPts val="500"/>
              </a:spcAft>
              <a:defRPr sz="950">
                <a:solidFill>
                  <a:srgbClr val="94A3B8"/>
                </a:solidFill>
                <a:latin typeface="Arial"/>
              </a:defRPr>
            </a:pPr>
            <a:r>
              <a:t>Trust allows routine decisions to happen automatically without constant friction.</a:t>
            </a:r>
          </a:p>
        </p:txBody>
      </p:sp>
      <p:sp>
        <p:nvSpPr>
          <p:cNvPr id="13" name="Rounded Rectangle 12"/>
          <p:cNvSpPr/>
          <p:nvPr/>
        </p:nvSpPr>
        <p:spPr>
          <a:xfrm>
            <a:off x="3483864" y="3063240"/>
            <a:ext cx="2468880" cy="214884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FBBF24"/>
                </a:solidFill>
                <a:latin typeface="Helvetica"/>
              </a:defRPr>
            </a:pPr>
            <a:r>
              <a:t>2. EMOTION</a:t>
            </a:r>
          </a:p>
          <a:p>
            <a:pPr>
              <a:spcAft>
                <a:spcPts val="200"/>
              </a:spcAft>
              <a:defRPr sz="900" b="1">
                <a:solidFill>
                  <a:srgbClr val="F8FAFC"/>
                </a:solidFill>
                <a:latin typeface="Helvetica"/>
              </a:defRPr>
            </a:pPr>
            <a:r>
              <a:t>AFFECTIVE DISRUPTION</a:t>
            </a:r>
          </a:p>
          <a:p>
            <a:pPr>
              <a:spcAft>
                <a:spcPts val="500"/>
              </a:spcAft>
              <a:defRPr sz="950">
                <a:solidFill>
                  <a:srgbClr val="94A3B8"/>
                </a:solidFill>
                <a:latin typeface="Arial"/>
              </a:defRPr>
            </a:pPr>
            <a:r>
              <a:t>Attackers introduce an emotional catalyst: fear of disciplinary action, curiosity, or a helpful desire to solve a crisis.</a:t>
            </a:r>
          </a:p>
          <a:p>
            <a:pPr>
              <a:spcAft>
                <a:spcPts val="200"/>
              </a:spcAft>
              <a:defRPr sz="900" b="1">
                <a:solidFill>
                  <a:srgbClr val="F8FAFC"/>
                </a:solidFill>
                <a:latin typeface="Helvetica"/>
              </a:defRPr>
            </a:pPr>
            <a:r>
              <a:t>BYPASSING ANALYSIS</a:t>
            </a:r>
          </a:p>
          <a:p>
            <a:pPr>
              <a:spcAft>
                <a:spcPts val="500"/>
              </a:spcAft>
              <a:defRPr sz="950">
                <a:solidFill>
                  <a:srgbClr val="94A3B8"/>
                </a:solidFill>
                <a:latin typeface="Arial"/>
              </a:defRPr>
            </a:pPr>
            <a:r>
              <a:t>Heightened emotion impairs deliberate analytical reasoning.</a:t>
            </a:r>
          </a:p>
        </p:txBody>
      </p:sp>
      <p:sp>
        <p:nvSpPr>
          <p:cNvPr id="14" name="Rounded Rectangle 13"/>
          <p:cNvSpPr/>
          <p:nvPr/>
        </p:nvSpPr>
        <p:spPr>
          <a:xfrm>
            <a:off x="6236208" y="3063240"/>
            <a:ext cx="2468880" cy="2148840"/>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F87171"/>
                </a:solidFill>
                <a:latin typeface="Helvetica"/>
              </a:defRPr>
            </a:pPr>
            <a:r>
              <a:t>3. URGENCY</a:t>
            </a:r>
          </a:p>
          <a:p>
            <a:pPr>
              <a:spcAft>
                <a:spcPts val="200"/>
              </a:spcAft>
              <a:defRPr sz="900" b="1">
                <a:solidFill>
                  <a:srgbClr val="F8FAFC"/>
                </a:solidFill>
                <a:latin typeface="Helvetica"/>
              </a:defRPr>
            </a:pPr>
            <a:r>
              <a:t>ARTIFICIAL DEADLINE</a:t>
            </a:r>
          </a:p>
          <a:p>
            <a:pPr>
              <a:spcAft>
                <a:spcPts val="500"/>
              </a:spcAft>
              <a:defRPr sz="950">
                <a:solidFill>
                  <a:srgbClr val="94A3B8"/>
                </a:solidFill>
                <a:latin typeface="Arial"/>
              </a:defRPr>
            </a:pPr>
            <a:r>
              <a:t>'Action required within 15 minutes to avoid account deactivation or contract termination.'</a:t>
            </a:r>
          </a:p>
          <a:p>
            <a:pPr>
              <a:spcAft>
                <a:spcPts val="200"/>
              </a:spcAft>
              <a:defRPr sz="900" b="1">
                <a:solidFill>
                  <a:srgbClr val="F8FAFC"/>
                </a:solidFill>
                <a:latin typeface="Helvetica"/>
              </a:defRPr>
            </a:pPr>
            <a:r>
              <a:t>HEURISTIC REACTION</a:t>
            </a:r>
          </a:p>
          <a:p>
            <a:pPr>
              <a:spcAft>
                <a:spcPts val="500"/>
              </a:spcAft>
              <a:defRPr sz="950">
                <a:solidFill>
                  <a:srgbClr val="94A3B8"/>
                </a:solidFill>
                <a:latin typeface="Arial"/>
              </a:defRPr>
            </a:pPr>
            <a:r>
              <a:t>Forces fast, instinctive thinking and prevents independent consultation.</a:t>
            </a:r>
          </a:p>
        </p:txBody>
      </p:sp>
      <p:sp>
        <p:nvSpPr>
          <p:cNvPr id="15" name="Rounded Rectangle 14"/>
          <p:cNvSpPr/>
          <p:nvPr/>
        </p:nvSpPr>
        <p:spPr>
          <a:xfrm>
            <a:off x="8988552" y="3063240"/>
            <a:ext cx="2468880" cy="214884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34D399"/>
                </a:solidFill>
                <a:latin typeface="Helvetica"/>
              </a:defRPr>
            </a:pPr>
            <a:r>
              <a:t>4. ACTION</a:t>
            </a:r>
          </a:p>
          <a:p>
            <a:pPr>
              <a:spcAft>
                <a:spcPts val="200"/>
              </a:spcAft>
              <a:defRPr sz="900" b="1">
                <a:solidFill>
                  <a:srgbClr val="F8FAFC"/>
                </a:solidFill>
                <a:latin typeface="Helvetica"/>
              </a:defRPr>
            </a:pPr>
            <a:r>
              <a:t>COMPROMISING STEP</a:t>
            </a:r>
          </a:p>
          <a:p>
            <a:pPr>
              <a:spcAft>
                <a:spcPts val="500"/>
              </a:spcAft>
              <a:defRPr sz="950">
                <a:solidFill>
                  <a:srgbClr val="94A3B8"/>
                </a:solidFill>
                <a:latin typeface="Arial"/>
              </a:defRPr>
            </a:pPr>
            <a:r>
              <a:t>The target reveals credentials, approves an MFA push prompt, or authorizes an urgent payment.</a:t>
            </a:r>
          </a:p>
          <a:p>
            <a:pPr>
              <a:spcAft>
                <a:spcPts val="200"/>
              </a:spcAft>
              <a:defRPr sz="900" b="1">
                <a:solidFill>
                  <a:srgbClr val="F8FAFC"/>
                </a:solidFill>
                <a:latin typeface="Helvetica"/>
              </a:defRPr>
            </a:pPr>
            <a:r>
              <a:t>PERIMETER BYPASSED</a:t>
            </a:r>
          </a:p>
          <a:p>
            <a:pPr>
              <a:spcAft>
                <a:spcPts val="500"/>
              </a:spcAft>
              <a:defRPr sz="950">
                <a:solidFill>
                  <a:srgbClr val="94A3B8"/>
                </a:solidFill>
                <a:latin typeface="Arial"/>
              </a:defRPr>
            </a:pPr>
            <a:r>
              <a:t>The breach succeeds using valid credentials without triggering code-level alarms.</a:t>
            </a:r>
          </a:p>
        </p:txBody>
      </p:sp>
      <p:sp>
        <p:nvSpPr>
          <p:cNvPr id="16" name="Rounded Rectangle 15"/>
          <p:cNvSpPr/>
          <p:nvPr/>
        </p:nvSpPr>
        <p:spPr>
          <a:xfrm>
            <a:off x="731520" y="5394960"/>
            <a:ext cx="10728655" cy="658368"/>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28016"/>
          <a:lstStyle/>
          <a:p>
            <a:pPr algn="ctr"/>
            <a:r>
              <a:rPr sz="1050" b="1">
                <a:solidFill>
                  <a:srgbClr val="38BDF8"/>
                </a:solidFill>
                <a:latin typeface="Helvetica"/>
              </a:rPr>
              <a:t>CORE THESIS: </a:t>
            </a:r>
            <a:r>
              <a:rPr sz="1050">
                <a:solidFill>
                  <a:srgbClr val="CBD5E1"/>
                </a:solidFill>
                <a:latin typeface="Arial"/>
              </a:rPr>
              <a:t>Social engineering does not defeat the cipher; it defeats the decision-maker. Understanding this attack mechanism is vital for designing effective human and technical defenses.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THEORETICAL FOUNDATIONS • THREAT TAXONOMY</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What Is Social Engineering? Definitions and Objectives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Examining how deceptive psychology converts legitimate human authority into an attack vector</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3 of 14</a:t>
            </a:r>
          </a:p>
        </p:txBody>
      </p:sp>
      <p:sp>
        <p:nvSpPr>
          <p:cNvPr id="11" name="Rounded Rectangle 10"/>
          <p:cNvSpPr/>
          <p:nvPr/>
        </p:nvSpPr>
        <p:spPr>
          <a:xfrm>
            <a:off x="731520" y="1600200"/>
            <a:ext cx="10728655" cy="1097280"/>
          </a:xfrm>
          <a:prstGeom prst="roundRect">
            <a:avLst/>
          </a:prstGeom>
          <a:solidFill>
            <a:srgbClr val="0F172A"/>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46304"/>
          <a:lstStyle/>
          <a:p>
            <a:pPr algn="ctr">
              <a:spcAft>
                <a:spcPts val="300"/>
              </a:spcAft>
              <a:defRPr sz="950" b="1">
                <a:solidFill>
                  <a:srgbClr val="38BDF8"/>
                </a:solidFill>
                <a:latin typeface="Helvetica"/>
              </a:defRPr>
            </a:pPr>
            <a:r>
              <a:t>ACADEMIC DEFINITION (COURSE CODE: US07HMABCA02, UNIT 1)</a:t>
            </a:r>
          </a:p>
          <a:p>
            <a:r>
              <a:rPr sz="1200" b="1">
                <a:solidFill>
                  <a:srgbClr val="F8FAFC"/>
                </a:solidFill>
                <a:latin typeface="Arial"/>
              </a:rPr>
              <a:t>“Social engineering is the use of deception or psychological manipulation to influence people into revealing confidential information, transferring valuable resources, or performing an unsafe action that benefits an attacker.”</a:t>
            </a:r>
          </a:p>
        </p:txBody>
      </p:sp>
      <p:sp>
        <p:nvSpPr>
          <p:cNvPr id="12" name="Rounded Rectangle 11"/>
          <p:cNvSpPr/>
          <p:nvPr/>
        </p:nvSpPr>
        <p:spPr>
          <a:xfrm>
            <a:off x="731520" y="2834640"/>
            <a:ext cx="3401568" cy="333756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200"/>
              </a:spcAft>
              <a:defRPr sz="1350" b="1">
                <a:solidFill>
                  <a:srgbClr val="38BDF8"/>
                </a:solidFill>
                <a:latin typeface="Helvetica"/>
              </a:defRPr>
            </a:pPr>
            <a:r>
              <a:t>1. REVEAL</a:t>
            </a:r>
          </a:p>
          <a:p>
            <a:pPr>
              <a:spcAft>
                <a:spcPts val="1000"/>
              </a:spcAft>
              <a:defRPr sz="900" b="1">
                <a:solidFill>
                  <a:srgbClr val="94A3B8"/>
                </a:solidFill>
                <a:latin typeface="Helvetica"/>
              </a:defRPr>
            </a:pPr>
            <a:r>
              <a:t>INFORMATION EXFILTRATION</a:t>
            </a:r>
          </a:p>
          <a:p>
            <a:pPr>
              <a:spcAft>
                <a:spcPts val="200"/>
              </a:spcAft>
              <a:defRPr sz="850" b="1">
                <a:solidFill>
                  <a:srgbClr val="F8FAFC"/>
                </a:solidFill>
                <a:latin typeface="Helvetica"/>
              </a:defRPr>
            </a:pPr>
            <a:r>
              <a:t>PRIMARY TARGETS</a:t>
            </a:r>
          </a:p>
          <a:p>
            <a:pPr>
              <a:spcAft>
                <a:spcPts val="600"/>
              </a:spcAft>
              <a:defRPr sz="950">
                <a:solidFill>
                  <a:srgbClr val="CBD5E1"/>
                </a:solidFill>
                <a:latin typeface="Arial"/>
              </a:defRPr>
            </a:pPr>
            <a:r>
              <a:t>Passwords, Multi-Factor OTPs, personal identity data (PII), session tokens, and cryptographic keys.</a:t>
            </a:r>
          </a:p>
          <a:p>
            <a:pPr>
              <a:spcAft>
                <a:spcPts val="200"/>
              </a:spcAft>
              <a:defRPr sz="850" b="1">
                <a:solidFill>
                  <a:srgbClr val="F8FAFC"/>
                </a:solidFill>
                <a:latin typeface="Helvetica"/>
              </a:defRPr>
            </a:pPr>
            <a:r>
              <a:t>OPERATIONAL MECHANISM</a:t>
            </a:r>
          </a:p>
          <a:p>
            <a:pPr>
              <a:spcAft>
                <a:spcPts val="600"/>
              </a:spcAft>
              <a:defRPr sz="950">
                <a:solidFill>
                  <a:srgbClr val="CBD5E1"/>
                </a:solidFill>
                <a:latin typeface="Arial"/>
              </a:defRPr>
            </a:pPr>
            <a:r>
              <a:t>Fake login portals, deceptive password reset alerts, or spoofed IT verification inquiries.</a:t>
            </a:r>
          </a:p>
          <a:p>
            <a:pPr>
              <a:spcAft>
                <a:spcPts val="200"/>
              </a:spcAft>
              <a:defRPr sz="850" b="1">
                <a:solidFill>
                  <a:srgbClr val="F8FAFC"/>
                </a:solidFill>
                <a:latin typeface="Helvetica"/>
              </a:defRPr>
            </a:pPr>
            <a:r>
              <a:t>SECURITY CONSEQUENCE</a:t>
            </a:r>
          </a:p>
          <a:p>
            <a:pPr>
              <a:spcAft>
                <a:spcPts val="600"/>
              </a:spcAft>
              <a:defRPr sz="950">
                <a:solidFill>
                  <a:srgbClr val="CBD5E1"/>
                </a:solidFill>
                <a:latin typeface="Arial"/>
              </a:defRPr>
            </a:pPr>
            <a:r>
              <a:t>Enables silent account takeover and lateral movement without triggering brute-force intrusion alarms.</a:t>
            </a:r>
          </a:p>
        </p:txBody>
      </p:sp>
      <p:sp>
        <p:nvSpPr>
          <p:cNvPr id="13" name="Rounded Rectangle 12"/>
          <p:cNvSpPr/>
          <p:nvPr/>
        </p:nvSpPr>
        <p:spPr>
          <a:xfrm>
            <a:off x="4389120" y="2834640"/>
            <a:ext cx="3401568" cy="333756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200"/>
              </a:spcAft>
              <a:defRPr sz="1350" b="1">
                <a:solidFill>
                  <a:srgbClr val="FBBF24"/>
                </a:solidFill>
                <a:latin typeface="Helvetica"/>
              </a:defRPr>
            </a:pPr>
            <a:r>
              <a:t>2. TRANSFER</a:t>
            </a:r>
          </a:p>
          <a:p>
            <a:pPr>
              <a:spcAft>
                <a:spcPts val="1000"/>
              </a:spcAft>
              <a:defRPr sz="900" b="1">
                <a:solidFill>
                  <a:srgbClr val="94A3B8"/>
                </a:solidFill>
                <a:latin typeface="Helvetica"/>
              </a:defRPr>
            </a:pPr>
            <a:r>
              <a:t>ASSET MISAPPROPRIATION</a:t>
            </a:r>
          </a:p>
          <a:p>
            <a:pPr>
              <a:spcAft>
                <a:spcPts val="200"/>
              </a:spcAft>
              <a:defRPr sz="850" b="1">
                <a:solidFill>
                  <a:srgbClr val="F8FAFC"/>
                </a:solidFill>
                <a:latin typeface="Helvetica"/>
              </a:defRPr>
            </a:pPr>
            <a:r>
              <a:t>PRIMARY TARGETS</a:t>
            </a:r>
          </a:p>
          <a:p>
            <a:pPr>
              <a:spcAft>
                <a:spcPts val="600"/>
              </a:spcAft>
              <a:defRPr sz="950">
                <a:solidFill>
                  <a:srgbClr val="CBD5E1"/>
                </a:solidFill>
                <a:latin typeface="Arial"/>
              </a:defRPr>
            </a:pPr>
            <a:r>
              <a:t>Direct wire funds, proprietary code repositories, confidential business files, and intellectual property.</a:t>
            </a:r>
          </a:p>
          <a:p>
            <a:pPr>
              <a:spcAft>
                <a:spcPts val="200"/>
              </a:spcAft>
              <a:defRPr sz="850" b="1">
                <a:solidFill>
                  <a:srgbClr val="F8FAFC"/>
                </a:solidFill>
                <a:latin typeface="Helvetica"/>
              </a:defRPr>
            </a:pPr>
            <a:r>
              <a:t>OPERATIONAL MECHANISM</a:t>
            </a:r>
          </a:p>
          <a:p>
            <a:pPr>
              <a:spcAft>
                <a:spcPts val="600"/>
              </a:spcAft>
              <a:defRPr sz="950">
                <a:solidFill>
                  <a:srgbClr val="CBD5E1"/>
                </a:solidFill>
                <a:latin typeface="Arial"/>
              </a:defRPr>
            </a:pPr>
            <a:r>
              <a:t>Fabricated vendor invoices, executive transfer directives, or spoofed supplier account modification requests.</a:t>
            </a:r>
          </a:p>
          <a:p>
            <a:pPr>
              <a:spcAft>
                <a:spcPts val="200"/>
              </a:spcAft>
              <a:defRPr sz="850" b="1">
                <a:solidFill>
                  <a:srgbClr val="F8FAFC"/>
                </a:solidFill>
                <a:latin typeface="Helvetica"/>
              </a:defRPr>
            </a:pPr>
            <a:r>
              <a:t>SECURITY CONSEQUENCE</a:t>
            </a:r>
          </a:p>
          <a:p>
            <a:pPr>
              <a:spcAft>
                <a:spcPts val="600"/>
              </a:spcAft>
              <a:defRPr sz="950">
                <a:solidFill>
                  <a:srgbClr val="CBD5E1"/>
                </a:solidFill>
                <a:latin typeface="Arial"/>
              </a:defRPr>
            </a:pPr>
            <a:r>
              <a:t>Direct financial exfiltration and data loss, often with immediate irreversible business impact.</a:t>
            </a:r>
          </a:p>
        </p:txBody>
      </p:sp>
      <p:sp>
        <p:nvSpPr>
          <p:cNvPr id="14" name="Rounded Rectangle 13"/>
          <p:cNvSpPr/>
          <p:nvPr/>
        </p:nvSpPr>
        <p:spPr>
          <a:xfrm>
            <a:off x="8046720" y="2834640"/>
            <a:ext cx="3401568" cy="333756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82880"/>
          <a:lstStyle/>
          <a:p>
            <a:pPr algn="ctr">
              <a:spcAft>
                <a:spcPts val="200"/>
              </a:spcAft>
              <a:defRPr sz="1350" b="1">
                <a:solidFill>
                  <a:srgbClr val="34D399"/>
                </a:solidFill>
                <a:latin typeface="Helvetica"/>
              </a:defRPr>
            </a:pPr>
            <a:r>
              <a:t>3. AUTHORISE</a:t>
            </a:r>
          </a:p>
          <a:p>
            <a:pPr>
              <a:spcAft>
                <a:spcPts val="1000"/>
              </a:spcAft>
              <a:defRPr sz="900" b="1">
                <a:solidFill>
                  <a:srgbClr val="94A3B8"/>
                </a:solidFill>
                <a:latin typeface="Helvetica"/>
              </a:defRPr>
            </a:pPr>
            <a:r>
              <a:t>PRIVILEGE &amp; ACCESS ABUSE</a:t>
            </a:r>
          </a:p>
          <a:p>
            <a:pPr>
              <a:spcAft>
                <a:spcPts val="200"/>
              </a:spcAft>
              <a:defRPr sz="850" b="1">
                <a:solidFill>
                  <a:srgbClr val="F8FAFC"/>
                </a:solidFill>
                <a:latin typeface="Helvetica"/>
              </a:defRPr>
            </a:pPr>
            <a:r>
              <a:t>PRIMARY TARGETS</a:t>
            </a:r>
          </a:p>
          <a:p>
            <a:pPr>
              <a:spcAft>
                <a:spcPts val="600"/>
              </a:spcAft>
              <a:defRPr sz="950">
                <a:solidFill>
                  <a:srgbClr val="CBD5E1"/>
                </a:solidFill>
                <a:latin typeface="Arial"/>
              </a:defRPr>
            </a:pPr>
            <a:r>
              <a:t>MFA push approval requests, privileged role grants, firewall exceptions, or internal software installations.</a:t>
            </a:r>
          </a:p>
          <a:p>
            <a:pPr>
              <a:spcAft>
                <a:spcPts val="200"/>
              </a:spcAft>
              <a:defRPr sz="850" b="1">
                <a:solidFill>
                  <a:srgbClr val="F8FAFC"/>
                </a:solidFill>
                <a:latin typeface="Helvetica"/>
              </a:defRPr>
            </a:pPr>
            <a:r>
              <a:t>OPERATIONAL MECHANISM</a:t>
            </a:r>
          </a:p>
          <a:p>
            <a:pPr>
              <a:spcAft>
                <a:spcPts val="600"/>
              </a:spcAft>
              <a:defRPr sz="950">
                <a:solidFill>
                  <a:srgbClr val="CBD5E1"/>
                </a:solidFill>
                <a:latin typeface="Arial"/>
              </a:defRPr>
            </a:pPr>
            <a:r>
              <a:t>MFA prompt fatigue, simulated emergency IT maintenance calls, or contractor access impersonation.</a:t>
            </a:r>
          </a:p>
          <a:p>
            <a:pPr>
              <a:spcAft>
                <a:spcPts val="200"/>
              </a:spcAft>
              <a:defRPr sz="850" b="1">
                <a:solidFill>
                  <a:srgbClr val="F8FAFC"/>
                </a:solidFill>
                <a:latin typeface="Helvetica"/>
              </a:defRPr>
            </a:pPr>
            <a:r>
              <a:t>SECURITY CONSEQUENCE</a:t>
            </a:r>
          </a:p>
          <a:p>
            <a:pPr>
              <a:spcAft>
                <a:spcPts val="600"/>
              </a:spcAft>
              <a:defRPr sz="950">
                <a:solidFill>
                  <a:srgbClr val="CBD5E1"/>
                </a:solidFill>
                <a:latin typeface="Arial"/>
              </a:defRPr>
            </a:pPr>
            <a:r>
              <a:t>Legitimate users grant the attacker validated system access, undermining access control matrices.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BEHAVIORAL CYBERSECURITY • COGNITIVE EXPLOITATION</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Why Does Social Engineering Work? Psychological Triggers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How threat actors systematically weaponize predictable human heuristics under pressure</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4 of 14</a:t>
            </a:r>
          </a:p>
        </p:txBody>
      </p:sp>
      <p:sp>
        <p:nvSpPr>
          <p:cNvPr id="11" name="Rounded Rectangle 10"/>
          <p:cNvSpPr/>
          <p:nvPr/>
        </p:nvSpPr>
        <p:spPr>
          <a:xfrm>
            <a:off x="731520" y="1600200"/>
            <a:ext cx="5230368" cy="196596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a:lstStyle/>
          <a:p>
            <a:pPr algn="ctr">
              <a:defRPr sz="1200" b="1">
                <a:solidFill>
                  <a:srgbClr val="FBBF24"/>
                </a:solidFill>
                <a:latin typeface="Helvetica"/>
              </a:defRPr>
            </a:pPr>
            <a:r>
              <a:t>1. URGENCY</a:t>
            </a:r>
          </a:p>
          <a:p>
            <a:pPr>
              <a:spcAft>
                <a:spcPts val="400"/>
              </a:spcAft>
              <a:defRPr sz="850" b="1">
                <a:solidFill>
                  <a:srgbClr val="94A3B8"/>
                </a:solidFill>
                <a:latin typeface="Helvetica"/>
              </a:defRPr>
            </a:pPr>
            <a:r>
              <a:t>TIME PRESSURE &amp; HEURISTIC EXECUTION</a:t>
            </a:r>
          </a:p>
          <a:p>
            <a:pPr>
              <a:spcAft>
                <a:spcPts val="400"/>
              </a:spcAft>
              <a:defRPr sz="1000" b="1">
                <a:solidFill>
                  <a:srgbClr val="F8FAFC"/>
                </a:solidFill>
                <a:latin typeface="Arial"/>
              </a:defRPr>
            </a:pPr>
            <a:r>
              <a:t>“Your account will be permanently blocked in 15 minutes unless verified.”</a:t>
            </a:r>
          </a:p>
          <a:p>
            <a:pPr>
              <a:defRPr sz="919">
                <a:solidFill>
                  <a:srgbClr val="CBD5E1"/>
                </a:solidFill>
                <a:latin typeface="Arial"/>
              </a:defRPr>
            </a:pPr>
            <a:r>
              <a:t>When subjected to severe artificial time constraints, the brain suppresses slow deliberate evaluation and activates immediate risk-avoidance reflexes. Attackers create false urgency to prevent the victim from seeking independent second opinions.</a:t>
            </a:r>
          </a:p>
        </p:txBody>
      </p:sp>
      <p:sp>
        <p:nvSpPr>
          <p:cNvPr id="12" name="Rounded Rectangle 11"/>
          <p:cNvSpPr/>
          <p:nvPr/>
        </p:nvSpPr>
        <p:spPr>
          <a:xfrm>
            <a:off x="6227064" y="1600200"/>
            <a:ext cx="5230368" cy="196596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a:lstStyle/>
          <a:p>
            <a:pPr algn="ctr">
              <a:defRPr sz="1200" b="1">
                <a:solidFill>
                  <a:srgbClr val="38BDF8"/>
                </a:solidFill>
                <a:latin typeface="Helvetica"/>
              </a:defRPr>
            </a:pPr>
            <a:r>
              <a:t>2. AUTHORITY</a:t>
            </a:r>
          </a:p>
          <a:p>
            <a:pPr>
              <a:spcAft>
                <a:spcPts val="400"/>
              </a:spcAft>
              <a:defRPr sz="850" b="1">
                <a:solidFill>
                  <a:srgbClr val="94A3B8"/>
                </a:solidFill>
                <a:latin typeface="Helvetica"/>
              </a:defRPr>
            </a:pPr>
            <a:r>
              <a:t>HIERARCHICAL COMPLIANCE &amp; TRUST IN STATUS</a:t>
            </a:r>
          </a:p>
          <a:p>
            <a:pPr>
              <a:spcAft>
                <a:spcPts val="400"/>
              </a:spcAft>
              <a:defRPr sz="1000" b="1">
                <a:solidFill>
                  <a:srgbClr val="F8FAFC"/>
                </a:solidFill>
                <a:latin typeface="Arial"/>
              </a:defRPr>
            </a:pPr>
            <a:r>
              <a:t>“Direct instruction from the University Dean / Corporate CISO.”</a:t>
            </a:r>
          </a:p>
          <a:p>
            <a:pPr>
              <a:defRPr sz="919">
                <a:solidFill>
                  <a:srgbClr val="CBD5E1"/>
                </a:solidFill>
                <a:latin typeface="Arial"/>
              </a:defRPr>
            </a:pPr>
            <a:r>
              <a:t>Organizations depend on hierarchical command structures. Attackers emulate high-status figures because employees are conditioned to execute executive directives promptly without creating friction or questioning seniority.</a:t>
            </a:r>
          </a:p>
        </p:txBody>
      </p:sp>
      <p:sp>
        <p:nvSpPr>
          <p:cNvPr id="13" name="Rounded Rectangle 12"/>
          <p:cNvSpPr/>
          <p:nvPr/>
        </p:nvSpPr>
        <p:spPr>
          <a:xfrm>
            <a:off x="731520" y="3703320"/>
            <a:ext cx="5230368" cy="1965960"/>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a:lstStyle/>
          <a:p>
            <a:pPr algn="ctr">
              <a:defRPr sz="1200" b="1">
                <a:solidFill>
                  <a:srgbClr val="F87171"/>
                </a:solidFill>
                <a:latin typeface="Helvetica"/>
              </a:defRPr>
            </a:pPr>
            <a:r>
              <a:t>3. FEAR &amp; LOSS AVERSION</a:t>
            </a:r>
          </a:p>
          <a:p>
            <a:pPr>
              <a:spcAft>
                <a:spcPts val="400"/>
              </a:spcAft>
              <a:defRPr sz="850" b="1">
                <a:solidFill>
                  <a:srgbClr val="94A3B8"/>
                </a:solidFill>
                <a:latin typeface="Helvetica"/>
              </a:defRPr>
            </a:pPr>
            <a:r>
              <a:t>THREAT MITIGATION &amp; ANXIETY EXPLOITATION</a:t>
            </a:r>
          </a:p>
          <a:p>
            <a:pPr>
              <a:spcAft>
                <a:spcPts val="400"/>
              </a:spcAft>
              <a:defRPr sz="1000" b="1">
                <a:solidFill>
                  <a:srgbClr val="F8FAFC"/>
                </a:solidFill>
                <a:latin typeface="Arial"/>
              </a:defRPr>
            </a:pPr>
            <a:r>
              <a:t>“Security Alert: Unauthorized login attempt detected from foreign IP.”</a:t>
            </a:r>
          </a:p>
          <a:p>
            <a:pPr>
              <a:defRPr sz="919">
                <a:solidFill>
                  <a:srgbClr val="CBD5E1"/>
                </a:solidFill>
                <a:latin typeface="Arial"/>
              </a:defRPr>
            </a:pPr>
            <a:r>
              <a:t>Behavioral economics demonstrates that individuals react more vigorously to prospective loss than prospective gain. Attackers induce anxiety regarding financial loss or disciplinary action, compelling victims into urgent self-defense maneuvers that actually trigger the exploit.</a:t>
            </a:r>
          </a:p>
        </p:txBody>
      </p:sp>
      <p:sp>
        <p:nvSpPr>
          <p:cNvPr id="14" name="Rounded Rectangle 13"/>
          <p:cNvSpPr/>
          <p:nvPr/>
        </p:nvSpPr>
        <p:spPr>
          <a:xfrm>
            <a:off x="6227064" y="3703320"/>
            <a:ext cx="5230368" cy="196596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46304"/>
          <a:lstStyle/>
          <a:p>
            <a:pPr algn="ctr">
              <a:defRPr sz="1200" b="1">
                <a:solidFill>
                  <a:srgbClr val="34D399"/>
                </a:solidFill>
                <a:latin typeface="Helvetica"/>
              </a:defRPr>
            </a:pPr>
            <a:r>
              <a:t>4. CURIOSITY &amp; HELPFULNESS</a:t>
            </a:r>
          </a:p>
          <a:p>
            <a:pPr>
              <a:spcAft>
                <a:spcPts val="400"/>
              </a:spcAft>
              <a:defRPr sz="850" b="1">
                <a:solidFill>
                  <a:srgbClr val="94A3B8"/>
                </a:solidFill>
                <a:latin typeface="Helvetica"/>
              </a:defRPr>
            </a:pPr>
            <a:r>
              <a:t>SOCIAL COOPERATION &amp; PROFESSIONAL CURIOSITY</a:t>
            </a:r>
          </a:p>
          <a:p>
            <a:pPr>
              <a:spcAft>
                <a:spcPts val="400"/>
              </a:spcAft>
              <a:defRPr sz="1000" b="1">
                <a:solidFill>
                  <a:srgbClr val="F8FAFC"/>
                </a:solidFill>
                <a:latin typeface="Arial"/>
              </a:defRPr>
            </a:pPr>
            <a:r>
              <a:t>“Confidential: Updated Faculty Salary Structure” or “Colleague locked out of server.”</a:t>
            </a:r>
          </a:p>
          <a:p>
            <a:pPr>
              <a:defRPr sz="919">
                <a:solidFill>
                  <a:srgbClr val="CBD5E1"/>
                </a:solidFill>
                <a:latin typeface="Arial"/>
              </a:defRPr>
            </a:pPr>
            <a:r>
              <a:t>Human social structures rely on mutual assistance and curiosity. Attackers masquerade as struggling peers requiring temporary assistance or dangle intriguing internal materials to tempt users into clicking malicious payloads.</a:t>
            </a:r>
          </a:p>
        </p:txBody>
      </p:sp>
      <p:sp>
        <p:nvSpPr>
          <p:cNvPr id="15" name="Rounded Rectangle 14"/>
          <p:cNvSpPr/>
          <p:nvPr/>
        </p:nvSpPr>
        <p:spPr>
          <a:xfrm>
            <a:off x="731520" y="5760720"/>
            <a:ext cx="10728655" cy="384048"/>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50">
                <a:solidFill>
                  <a:srgbClr val="38BDF8"/>
                </a:solidFill>
                <a:latin typeface="Arial"/>
              </a:defRPr>
            </a:pPr>
            <a:r>
              <a:t>CRITICAL PERSPECTIVE: The attacker is not attempting to break a password; they are engineering an environment to influence a decision. Victims are not unintelligent—social engineering exploits normal human reactions under calculated pressure.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ATTACK TAXONOMY • MULTI-CHANNEL VECTORS</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Forms of Social Engineering: Channel Diversity, Unified Goal</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How the attack medium fluctuates across protocols while the underlying psychological exploit remains constant</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5 of 14</a:t>
            </a:r>
          </a:p>
        </p:txBody>
      </p:sp>
      <p:sp>
        <p:nvSpPr>
          <p:cNvPr id="11" name="Rounded Rectangle 10"/>
          <p:cNvSpPr/>
          <p:nvPr/>
        </p:nvSpPr>
        <p:spPr>
          <a:xfrm>
            <a:off x="731520" y="1600200"/>
            <a:ext cx="3401568" cy="201168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38BDF8"/>
                </a:solidFill>
                <a:latin typeface="Helvetica"/>
              </a:defRPr>
            </a:pPr>
            <a:r>
              <a:t>PHISHING</a:t>
            </a:r>
          </a:p>
          <a:p>
            <a:pPr>
              <a:spcAft>
                <a:spcPts val="400"/>
              </a:spcAft>
              <a:defRPr sz="850" b="1">
                <a:solidFill>
                  <a:srgbClr val="94A3B8"/>
                </a:solidFill>
                <a:latin typeface="Helvetica"/>
              </a:defRPr>
            </a:pPr>
            <a:r>
              <a:t>BROAD EMAIL LURES</a:t>
            </a:r>
          </a:p>
          <a:p>
            <a:pPr>
              <a:spcAft>
                <a:spcPts val="300"/>
              </a:spcAft>
              <a:defRPr sz="950">
                <a:solidFill>
                  <a:srgbClr val="F8FAFC"/>
                </a:solidFill>
                <a:latin typeface="Arial"/>
              </a:defRPr>
            </a:pPr>
            <a:r>
              <a:t>Mass-distributed deceptive emails mimicking trusted brands, financial institutions, or university portals.</a:t>
            </a:r>
          </a:p>
          <a:p>
            <a:pPr>
              <a:defRPr sz="880">
                <a:solidFill>
                  <a:srgbClr val="94A3B8"/>
                </a:solidFill>
                <a:latin typeface="Arial"/>
              </a:defRPr>
            </a:pPr>
            <a:r>
              <a:t>Core Tactic: Directs victims to convincing clone websites designed to harvest credentials or install malware payloads en masse.</a:t>
            </a:r>
          </a:p>
        </p:txBody>
      </p:sp>
      <p:sp>
        <p:nvSpPr>
          <p:cNvPr id="12" name="Rounded Rectangle 11"/>
          <p:cNvSpPr/>
          <p:nvPr/>
        </p:nvSpPr>
        <p:spPr>
          <a:xfrm>
            <a:off x="4389120" y="1600200"/>
            <a:ext cx="3401568" cy="201168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38BDF8"/>
                </a:solidFill>
                <a:latin typeface="Helvetica"/>
              </a:defRPr>
            </a:pPr>
            <a:r>
              <a:t>SPEAR PHISHING</a:t>
            </a:r>
          </a:p>
          <a:p>
            <a:pPr>
              <a:spcAft>
                <a:spcPts val="400"/>
              </a:spcAft>
              <a:defRPr sz="850" b="1">
                <a:solidFill>
                  <a:srgbClr val="94A3B8"/>
                </a:solidFill>
                <a:latin typeface="Helvetica"/>
              </a:defRPr>
            </a:pPr>
            <a:r>
              <a:t>TARGETED RECONNAISSANCE</a:t>
            </a:r>
          </a:p>
          <a:p>
            <a:pPr>
              <a:spcAft>
                <a:spcPts val="300"/>
              </a:spcAft>
              <a:defRPr sz="950">
                <a:solidFill>
                  <a:srgbClr val="F8FAFC"/>
                </a:solidFill>
                <a:latin typeface="Arial"/>
              </a:defRPr>
            </a:pPr>
            <a:r>
              <a:t>Highly customized, intelligence-driven email attacks directed at specific individuals or organizational departments.</a:t>
            </a:r>
          </a:p>
          <a:p>
            <a:pPr>
              <a:defRPr sz="880">
                <a:solidFill>
                  <a:srgbClr val="94A3B8"/>
                </a:solidFill>
                <a:latin typeface="Arial"/>
              </a:defRPr>
            </a:pPr>
            <a:r>
              <a:t>Core Tactic: Ingests public biographies, role duties, and colleague names to make the deceptive communication appear completely routine.</a:t>
            </a:r>
          </a:p>
        </p:txBody>
      </p:sp>
      <p:sp>
        <p:nvSpPr>
          <p:cNvPr id="13" name="Rounded Rectangle 12"/>
          <p:cNvSpPr/>
          <p:nvPr/>
        </p:nvSpPr>
        <p:spPr>
          <a:xfrm>
            <a:off x="8046720" y="1600200"/>
            <a:ext cx="3401568" cy="201168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FBBF24"/>
                </a:solidFill>
                <a:latin typeface="Helvetica"/>
              </a:defRPr>
            </a:pPr>
            <a:r>
              <a:t>SMISHING (SMS)</a:t>
            </a:r>
          </a:p>
          <a:p>
            <a:pPr>
              <a:spcAft>
                <a:spcPts val="400"/>
              </a:spcAft>
              <a:defRPr sz="850" b="1">
                <a:solidFill>
                  <a:srgbClr val="94A3B8"/>
                </a:solidFill>
                <a:latin typeface="Helvetica"/>
              </a:defRPr>
            </a:pPr>
            <a:r>
              <a:t>MOBILE CHANNEL URGENCY</a:t>
            </a:r>
          </a:p>
          <a:p>
            <a:pPr>
              <a:spcAft>
                <a:spcPts val="300"/>
              </a:spcAft>
              <a:defRPr sz="950">
                <a:solidFill>
                  <a:srgbClr val="F8FAFC"/>
                </a:solidFill>
                <a:latin typeface="Arial"/>
              </a:defRPr>
            </a:pPr>
            <a:r>
              <a:t>Deceptive short message communications exploiting high open rates and immediate mobile attention.</a:t>
            </a:r>
          </a:p>
          <a:p>
            <a:pPr>
              <a:defRPr sz="880">
                <a:solidFill>
                  <a:srgbClr val="94A3B8"/>
                </a:solidFill>
                <a:latin typeface="Arial"/>
              </a:defRPr>
            </a:pPr>
            <a:r>
              <a:t>Core Tactic: Feigns missed postal deliveries, urgent bank alerts, or two-factor reset requests, exploiting truncated mobile display links.</a:t>
            </a:r>
          </a:p>
        </p:txBody>
      </p:sp>
      <p:sp>
        <p:nvSpPr>
          <p:cNvPr id="14" name="Rounded Rectangle 13"/>
          <p:cNvSpPr/>
          <p:nvPr/>
        </p:nvSpPr>
        <p:spPr>
          <a:xfrm>
            <a:off x="731520" y="3749039"/>
            <a:ext cx="3401568" cy="201168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FBBF24"/>
                </a:solidFill>
                <a:latin typeface="Helvetica"/>
              </a:defRPr>
            </a:pPr>
            <a:r>
              <a:t>VISHING</a:t>
            </a:r>
          </a:p>
          <a:p>
            <a:pPr>
              <a:spcAft>
                <a:spcPts val="400"/>
              </a:spcAft>
              <a:defRPr sz="850" b="1">
                <a:solidFill>
                  <a:srgbClr val="94A3B8"/>
                </a:solidFill>
                <a:latin typeface="Helvetica"/>
              </a:defRPr>
            </a:pPr>
            <a:r>
              <a:t>VOICE &amp; TELEPHONIC MANIPULATION</a:t>
            </a:r>
          </a:p>
          <a:p>
            <a:pPr>
              <a:spcAft>
                <a:spcPts val="300"/>
              </a:spcAft>
              <a:defRPr sz="950">
                <a:solidFill>
                  <a:srgbClr val="F8FAFC"/>
                </a:solidFill>
                <a:latin typeface="Arial"/>
              </a:defRPr>
            </a:pPr>
            <a:r>
              <a:t>Direct telephone-based social engineering impersonating technical support desks, bank fraud divisions, or law enforcement.</a:t>
            </a:r>
          </a:p>
          <a:p>
            <a:pPr>
              <a:defRPr sz="880">
                <a:solidFill>
                  <a:srgbClr val="94A3B8"/>
                </a:solidFill>
                <a:latin typeface="Arial"/>
              </a:defRPr>
            </a:pPr>
            <a:r>
              <a:t>Core Tactic: Leverages live conversational cadence, emotional tone, and real-time verbal coercion to demand OTPs or remote computer access.</a:t>
            </a:r>
          </a:p>
        </p:txBody>
      </p:sp>
      <p:sp>
        <p:nvSpPr>
          <p:cNvPr id="15" name="Rounded Rectangle 14"/>
          <p:cNvSpPr/>
          <p:nvPr/>
        </p:nvSpPr>
        <p:spPr>
          <a:xfrm>
            <a:off x="4389120" y="3749039"/>
            <a:ext cx="3401568" cy="2011680"/>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A78BFA"/>
                </a:solidFill>
                <a:latin typeface="Helvetica"/>
              </a:defRPr>
            </a:pPr>
            <a:r>
              <a:t>PRETEXTING</a:t>
            </a:r>
          </a:p>
          <a:p>
            <a:pPr>
              <a:spcAft>
                <a:spcPts val="400"/>
              </a:spcAft>
              <a:defRPr sz="850" b="1">
                <a:solidFill>
                  <a:srgbClr val="94A3B8"/>
                </a:solidFill>
                <a:latin typeface="Helvetica"/>
              </a:defRPr>
            </a:pPr>
            <a:r>
              <a:t>FABRICATED IDENTITIES &amp; ROLES</a:t>
            </a:r>
          </a:p>
          <a:p>
            <a:pPr>
              <a:spcAft>
                <a:spcPts val="300"/>
              </a:spcAft>
              <a:defRPr sz="950">
                <a:solidFill>
                  <a:srgbClr val="F8FAFC"/>
                </a:solidFill>
                <a:latin typeface="Arial"/>
              </a:defRPr>
            </a:pPr>
            <a:r>
              <a:t>Constructing an elaborate fictional backstory and legitimate operational scenario to elicit confidential organizational data.</a:t>
            </a:r>
          </a:p>
          <a:p>
            <a:pPr>
              <a:defRPr sz="880">
                <a:solidFill>
                  <a:srgbClr val="94A3B8"/>
                </a:solidFill>
                <a:latin typeface="Arial"/>
              </a:defRPr>
            </a:pPr>
            <a:r>
              <a:t>Core Tactic: The attacker assumes the identity of a third-party auditor, vendor, or contractor to justify accessing sensitive personnel files.</a:t>
            </a:r>
          </a:p>
        </p:txBody>
      </p:sp>
      <p:sp>
        <p:nvSpPr>
          <p:cNvPr id="16" name="Rounded Rectangle 15"/>
          <p:cNvSpPr/>
          <p:nvPr/>
        </p:nvSpPr>
        <p:spPr>
          <a:xfrm>
            <a:off x="8046720" y="3749039"/>
            <a:ext cx="3401568" cy="2011680"/>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46304"/>
          <a:lstStyle/>
          <a:p>
            <a:pPr algn="ctr">
              <a:defRPr sz="1200" b="1">
                <a:solidFill>
                  <a:srgbClr val="F87171"/>
                </a:solidFill>
                <a:latin typeface="Helvetica"/>
              </a:defRPr>
            </a:pPr>
            <a:r>
              <a:t>BUSINESS EMAIL COMPROMISE</a:t>
            </a:r>
          </a:p>
          <a:p>
            <a:pPr>
              <a:spcAft>
                <a:spcPts val="400"/>
              </a:spcAft>
              <a:defRPr sz="850" b="1">
                <a:solidFill>
                  <a:srgbClr val="94A3B8"/>
                </a:solidFill>
                <a:latin typeface="Helvetica"/>
              </a:defRPr>
            </a:pPr>
            <a:r>
              <a:t>EXECUTIVE &amp; WIRE FRAUD</a:t>
            </a:r>
          </a:p>
          <a:p>
            <a:pPr>
              <a:spcAft>
                <a:spcPts val="300"/>
              </a:spcAft>
              <a:defRPr sz="950">
                <a:solidFill>
                  <a:srgbClr val="F8FAFC"/>
                </a:solidFill>
                <a:latin typeface="Arial"/>
              </a:defRPr>
            </a:pPr>
            <a:r>
              <a:t>Sophisticated impersonation or account compromise targeting executives and finance officers managing capital transfers.</a:t>
            </a:r>
          </a:p>
          <a:p>
            <a:pPr>
              <a:defRPr sz="880">
                <a:solidFill>
                  <a:srgbClr val="94A3B8"/>
                </a:solidFill>
                <a:latin typeface="Arial"/>
              </a:defRPr>
            </a:pPr>
            <a:r>
              <a:t>Core Tactic: Monitors commercial email threads to inject fraudulent wire routing numbers during high-value supplier transactions.</a:t>
            </a:r>
          </a:p>
        </p:txBody>
      </p:sp>
      <p:sp>
        <p:nvSpPr>
          <p:cNvPr id="17" name="Rounded Rectangle 16"/>
          <p:cNvSpPr/>
          <p:nvPr/>
        </p:nvSpPr>
        <p:spPr>
          <a:xfrm>
            <a:off x="731520" y="5833872"/>
            <a:ext cx="10728655" cy="329184"/>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a:lstStyle/>
          <a:p>
            <a:pPr algn="ctr">
              <a:defRPr sz="919" b="1">
                <a:solidFill>
                  <a:srgbClr val="38BDF8"/>
                </a:solidFill>
                <a:latin typeface="Arial"/>
              </a:defRPr>
            </a:pPr>
            <a:r>
              <a:t>THE UNIFYING PRINCIPLE: The communication vector may change—from an email link to an SMS alert to a live telephone call—but the underlying objective remains constant: exploiting unverified trust.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TECHNOLOGICAL INFLECTION • THE GENERATIVE AI PARADIGM</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What Changes When AI Enters the Picture?</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Evaluating the transformation from manual social engineering to automated, context-aware deception</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6 of 14</a:t>
            </a:r>
          </a:p>
        </p:txBody>
      </p:sp>
      <p:sp>
        <p:nvSpPr>
          <p:cNvPr id="11" name="Rounded Rectangle 10"/>
          <p:cNvSpPr/>
          <p:nvPr/>
        </p:nvSpPr>
        <p:spPr>
          <a:xfrm>
            <a:off x="731520" y="1600200"/>
            <a:ext cx="5230368" cy="3977639"/>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300" b="1">
                <a:solidFill>
                  <a:srgbClr val="94A3B8"/>
                </a:solidFill>
                <a:latin typeface="Helvetica"/>
              </a:defRPr>
            </a:pPr>
            <a:r>
              <a:t>TRADITIONAL SOCIAL ENGINEERING</a:t>
            </a:r>
          </a:p>
          <a:p>
            <a:pPr>
              <a:spcAft>
                <a:spcPts val="1200"/>
              </a:spcAft>
              <a:defRPr sz="850" b="1">
                <a:solidFill>
                  <a:srgbClr val="64748B"/>
                </a:solidFill>
                <a:latin typeface="Helvetica"/>
              </a:defRPr>
            </a:pPr>
            <a:r>
              <a:t>MANUAL, FRAGMENTED &amp; RESOURCE-CONSTRAINED</a:t>
            </a:r>
          </a:p>
          <a:p>
            <a:pPr>
              <a:spcAft>
                <a:spcPts val="800"/>
              </a:spcAft>
            </a:pPr>
            <a:r>
              <a:rPr sz="1000" b="1">
                <a:solidFill>
                  <a:srgbClr val="F8FAFC"/>
                </a:solidFill>
                <a:latin typeface="Helvetica"/>
              </a:rPr>
              <a:t>• Generic, Templated Phrasing: </a:t>
            </a:r>
            <a:r>
              <a:rPr sz="950">
                <a:solidFill>
                  <a:srgbClr val="94A3B8"/>
                </a:solidFill>
                <a:latin typeface="Arial"/>
              </a:rPr>
              <a:t>Mass-distributed templates with static lures that are easily recognized by modern email security heuristics and vigilant users.</a:t>
            </a:r>
          </a:p>
          <a:p>
            <a:pPr>
              <a:spcAft>
                <a:spcPts val="800"/>
              </a:spcAft>
            </a:pPr>
            <a:r>
              <a:rPr sz="1000" b="1">
                <a:solidFill>
                  <a:srgbClr val="F8FAFC"/>
                </a:solidFill>
                <a:latin typeface="Helvetica"/>
              </a:rPr>
              <a:t>• Detectable Linguistic Flaws: </a:t>
            </a:r>
            <a:r>
              <a:rPr sz="950">
                <a:solidFill>
                  <a:srgbClr val="94A3B8"/>
                </a:solidFill>
                <a:latin typeface="Arial"/>
              </a:rPr>
              <a:t>Attackers frequently made spelling mistakes, awkward grammatical choices, and unnatural idioms when targeting foreign languages.</a:t>
            </a:r>
          </a:p>
          <a:p>
            <a:pPr>
              <a:spcAft>
                <a:spcPts val="800"/>
              </a:spcAft>
            </a:pPr>
            <a:r>
              <a:rPr sz="1000" b="1">
                <a:solidFill>
                  <a:srgbClr val="F8FAFC"/>
                </a:solidFill>
                <a:latin typeface="Helvetica"/>
              </a:rPr>
              <a:t>• High Manual Research Costs: </a:t>
            </a:r>
            <a:r>
              <a:rPr sz="950">
                <a:solidFill>
                  <a:srgbClr val="94A3B8"/>
                </a:solidFill>
                <a:latin typeface="Arial"/>
              </a:rPr>
              <a:t>Crafting a convincing spear-phishing attack required hours of manual Open Source Intelligence (OSINT) gathering per target.</a:t>
            </a:r>
          </a:p>
          <a:p>
            <a:pPr>
              <a:spcAft>
                <a:spcPts val="800"/>
              </a:spcAft>
            </a:pPr>
            <a:r>
              <a:rPr sz="1000" b="1">
                <a:solidFill>
                  <a:srgbClr val="F8FAFC"/>
                </a:solidFill>
                <a:latin typeface="Helvetica"/>
              </a:rPr>
              <a:t>• Rigid Scale vs. Quality Trade-off: </a:t>
            </a:r>
            <a:r>
              <a:rPr sz="950">
                <a:solidFill>
                  <a:srgbClr val="94A3B8"/>
                </a:solidFill>
                <a:latin typeface="Arial"/>
              </a:rPr>
              <a:t>Threat actors were forced to choose between sending high-volume generic spam or low-volume personalized spear-phishing.</a:t>
            </a:r>
          </a:p>
        </p:txBody>
      </p:sp>
      <p:sp>
        <p:nvSpPr>
          <p:cNvPr id="12" name="Rounded Rectangle 11"/>
          <p:cNvSpPr/>
          <p:nvPr/>
        </p:nvSpPr>
        <p:spPr>
          <a:xfrm>
            <a:off x="6227064" y="1600200"/>
            <a:ext cx="5230368" cy="3977639"/>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300" b="1">
                <a:solidFill>
                  <a:srgbClr val="38BDF8"/>
                </a:solidFill>
                <a:latin typeface="Helvetica"/>
              </a:defRPr>
            </a:pPr>
            <a:r>
              <a:t>AI-ASSISTED CAMPAIGNS</a:t>
            </a:r>
          </a:p>
          <a:p>
            <a:pPr>
              <a:spcAft>
                <a:spcPts val="1200"/>
              </a:spcAft>
              <a:defRPr sz="850" b="1">
                <a:solidFill>
                  <a:srgbClr val="BAE6FD"/>
                </a:solidFill>
                <a:latin typeface="Helvetica"/>
              </a:defRPr>
            </a:pPr>
            <a:r>
              <a:t>AUTOMATED, CONTEXTUAL &amp; RAPIDLY SCALABLE</a:t>
            </a:r>
          </a:p>
          <a:p>
            <a:pPr>
              <a:spcAft>
                <a:spcPts val="800"/>
              </a:spcAft>
            </a:pPr>
            <a:r>
              <a:rPr sz="1000" b="1">
                <a:solidFill>
                  <a:srgbClr val="38BDF8"/>
                </a:solidFill>
                <a:latin typeface="Helvetica"/>
              </a:rPr>
              <a:t>• Flawless Natural Language Generation: </a:t>
            </a:r>
            <a:r>
              <a:rPr sz="950">
                <a:solidFill>
                  <a:srgbClr val="CBD5E1"/>
                </a:solidFill>
                <a:latin typeface="Arial"/>
              </a:rPr>
              <a:t>Large Language Models produce grammatically flawless, idiomatically natural prose matching specific corporate and academic tones.</a:t>
            </a:r>
          </a:p>
          <a:p>
            <a:pPr>
              <a:spcAft>
                <a:spcPts val="800"/>
              </a:spcAft>
            </a:pPr>
            <a:r>
              <a:rPr sz="1000" b="1">
                <a:solidFill>
                  <a:srgbClr val="38BDF8"/>
                </a:solidFill>
                <a:latin typeface="Helvetica"/>
              </a:rPr>
              <a:t>• Automated Contextual OSINT Ingestion: </a:t>
            </a:r>
            <a:r>
              <a:rPr sz="950">
                <a:solidFill>
                  <a:srgbClr val="CBD5E1"/>
                </a:solidFill>
                <a:latin typeface="Arial"/>
              </a:rPr>
              <a:t>AI scripts scrape LinkedIn, company publications, and public bios, instantly synthesizing highly tailored pretexts for individual targets.</a:t>
            </a:r>
          </a:p>
          <a:p>
            <a:pPr>
              <a:spcAft>
                <a:spcPts val="800"/>
              </a:spcAft>
            </a:pPr>
            <a:r>
              <a:rPr sz="1000" b="1">
                <a:solidFill>
                  <a:srgbClr val="38BDF8"/>
                </a:solidFill>
                <a:latin typeface="Helvetica"/>
              </a:rPr>
              <a:t>• Polyglot &amp; Tone Adaptation: </a:t>
            </a:r>
            <a:r>
              <a:rPr sz="950">
                <a:solidFill>
                  <a:srgbClr val="CBD5E1"/>
                </a:solidFill>
                <a:latin typeface="Arial"/>
              </a:rPr>
              <a:t>Generates fluent communications in dozens of languages, removing regional spelling flags and matching executive communication styles.</a:t>
            </a:r>
          </a:p>
          <a:p>
            <a:pPr>
              <a:spcAft>
                <a:spcPts val="800"/>
              </a:spcAft>
            </a:pPr>
            <a:r>
              <a:rPr sz="1000" b="1">
                <a:solidFill>
                  <a:srgbClr val="38BDF8"/>
                </a:solidFill>
                <a:latin typeface="Helvetica"/>
              </a:rPr>
              <a:t>• Hyper-Personalization at Scale: </a:t>
            </a:r>
            <a:r>
              <a:rPr sz="950">
                <a:solidFill>
                  <a:srgbClr val="CBD5E1"/>
                </a:solidFill>
                <a:latin typeface="Arial"/>
              </a:rPr>
              <a:t>Eliminates the trade-off between scale and quality: thousands of bespoke, highly customized lures can be generated simultaneously.</a:t>
            </a:r>
          </a:p>
        </p:txBody>
      </p:sp>
      <p:sp>
        <p:nvSpPr>
          <p:cNvPr id="13" name="Rounded Rectangle 12"/>
          <p:cNvSpPr/>
          <p:nvPr/>
        </p:nvSpPr>
        <p:spPr>
          <a:xfrm>
            <a:off x="731520" y="5715000"/>
            <a:ext cx="10728655" cy="438912"/>
          </a:xfrm>
          <a:prstGeom prst="roundRect">
            <a:avLst/>
          </a:prstGeom>
          <a:solidFill>
            <a:srgbClr val="0B112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19">
                <a:solidFill>
                  <a:srgbClr val="FBBF24"/>
                </a:solidFill>
                <a:latin typeface="Arial"/>
              </a:defRPr>
            </a:pPr>
            <a:r>
              <a:t>TECHNICAL NUANCE (ENISA THREAT LANDSCAPE): AI does not make attacks automatically successful or infallible. Rather, AI functions as a force multiplier—drastically reducing the marginal cost, time, and linguistic effort required to produce and distribute convincing deception.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SYNTHETIC MEDIA • SENSORY EXPLOITATION</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Deepfakes: When Digital Identity Can Be Synthesised</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How multimodal synthetic text, neural voice cloning, and synthetic video undermine visual and vocal verification</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7 of 14</a:t>
            </a:r>
          </a:p>
        </p:txBody>
      </p:sp>
      <p:sp>
        <p:nvSpPr>
          <p:cNvPr id="11" name="Rounded Rectangle 10"/>
          <p:cNvSpPr/>
          <p:nvPr/>
        </p:nvSpPr>
        <p:spPr>
          <a:xfrm>
            <a:off x="731520" y="1600200"/>
            <a:ext cx="3401568" cy="3977639"/>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defRPr sz="1300" b="1">
                <a:solidFill>
                  <a:srgbClr val="38BDF8"/>
                </a:solidFill>
                <a:latin typeface="Helvetica"/>
              </a:defRPr>
            </a:pPr>
            <a:r>
              <a:t>SYNTHETIC TEXT</a:t>
            </a:r>
          </a:p>
          <a:p>
            <a:pPr>
              <a:spcAft>
                <a:spcPts val="1000"/>
              </a:spcAft>
              <a:defRPr sz="850" b="1">
                <a:solidFill>
                  <a:srgbClr val="94A3B8"/>
                </a:solidFill>
                <a:latin typeface="Helvetica"/>
              </a:defRPr>
            </a:pPr>
            <a:r>
              <a:t>LLM STYLOMETRY &amp; PERSONA EMULATION</a:t>
            </a:r>
          </a:p>
          <a:p>
            <a:pPr>
              <a:spcAft>
                <a:spcPts val="200"/>
              </a:spcAft>
              <a:defRPr sz="850" b="1">
                <a:solidFill>
                  <a:srgbClr val="F8FAFC"/>
                </a:solidFill>
                <a:latin typeface="Helvetica"/>
              </a:defRPr>
            </a:pPr>
            <a:r>
              <a:t>CORE TECHNOLOGY</a:t>
            </a:r>
          </a:p>
          <a:p>
            <a:pPr>
              <a:spcAft>
                <a:spcPts val="600"/>
              </a:spcAft>
              <a:defRPr sz="919">
                <a:solidFill>
                  <a:srgbClr val="CBD5E1"/>
                </a:solidFill>
                <a:latin typeface="Arial"/>
              </a:defRPr>
            </a:pPr>
            <a:r>
              <a:t>Large Language Models fine-tuned on writing samples, email corpora, and conversational archives.</a:t>
            </a:r>
          </a:p>
          <a:p>
            <a:pPr>
              <a:spcAft>
                <a:spcPts val="200"/>
              </a:spcAft>
              <a:defRPr sz="850" b="1">
                <a:solidFill>
                  <a:srgbClr val="F8FAFC"/>
                </a:solidFill>
                <a:latin typeface="Helvetica"/>
              </a:defRPr>
            </a:pPr>
            <a:r>
              <a:t>IMPERSONATION CAPABILITY</a:t>
            </a:r>
          </a:p>
          <a:p>
            <a:pPr>
              <a:spcAft>
                <a:spcPts val="600"/>
              </a:spcAft>
              <a:defRPr sz="919">
                <a:solidFill>
                  <a:srgbClr val="CBD5E1"/>
                </a:solidFill>
                <a:latin typeface="Arial"/>
              </a:defRPr>
            </a:pPr>
            <a:r>
              <a:t>Emulates individual stylistic nuances: sign-offs, typical vocabulary, sentence brevity, and corporate idioms.</a:t>
            </a:r>
          </a:p>
          <a:p>
            <a:pPr>
              <a:spcAft>
                <a:spcPts val="200"/>
              </a:spcAft>
              <a:defRPr sz="850" b="1">
                <a:solidFill>
                  <a:srgbClr val="F8FAFC"/>
                </a:solidFill>
                <a:latin typeface="Helvetica"/>
              </a:defRPr>
            </a:pPr>
            <a:r>
              <a:t>ATTACK APPLICATION</a:t>
            </a:r>
          </a:p>
          <a:p>
            <a:pPr>
              <a:spcAft>
                <a:spcPts val="600"/>
              </a:spcAft>
              <a:defRPr sz="919">
                <a:solidFill>
                  <a:srgbClr val="CBD5E1"/>
                </a:solidFill>
                <a:latin typeface="Arial"/>
              </a:defRPr>
            </a:pPr>
            <a:r>
              <a:t>Highly authentic internal memos, spoofed executive directives, and convincing email replies in active threads.</a:t>
            </a:r>
          </a:p>
          <a:p>
            <a:pPr>
              <a:spcAft>
                <a:spcPts val="200"/>
              </a:spcAft>
              <a:defRPr sz="850" b="1">
                <a:solidFill>
                  <a:srgbClr val="F8FAFC"/>
                </a:solidFill>
                <a:latin typeface="Helvetica"/>
              </a:defRPr>
            </a:pPr>
            <a:r>
              <a:t>DEFENSIVE CHALLENGE</a:t>
            </a:r>
          </a:p>
          <a:p>
            <a:pPr>
              <a:spcAft>
                <a:spcPts val="600"/>
              </a:spcAft>
              <a:defRPr sz="919">
                <a:solidFill>
                  <a:srgbClr val="CBD5E1"/>
                </a:solidFill>
                <a:latin typeface="Arial"/>
              </a:defRPr>
            </a:pPr>
            <a:r>
              <a:t>Static heuristic filters and human readers cannot easily flag anomalies based on writing style alone.</a:t>
            </a:r>
          </a:p>
        </p:txBody>
      </p:sp>
      <p:sp>
        <p:nvSpPr>
          <p:cNvPr id="12" name="Rounded Rectangle 11"/>
          <p:cNvSpPr/>
          <p:nvPr/>
        </p:nvSpPr>
        <p:spPr>
          <a:xfrm>
            <a:off x="4389120" y="1600200"/>
            <a:ext cx="3401568" cy="3977639"/>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defRPr sz="1300" b="1">
                <a:solidFill>
                  <a:srgbClr val="FBBF24"/>
                </a:solidFill>
                <a:latin typeface="Helvetica"/>
              </a:defRPr>
            </a:pPr>
            <a:r>
              <a:t>SYNTHETIC VOICE</a:t>
            </a:r>
          </a:p>
          <a:p>
            <a:pPr>
              <a:spcAft>
                <a:spcPts val="1000"/>
              </a:spcAft>
              <a:defRPr sz="850" b="1">
                <a:solidFill>
                  <a:srgbClr val="94A3B8"/>
                </a:solidFill>
                <a:latin typeface="Helvetica"/>
              </a:defRPr>
            </a:pPr>
            <a:r>
              <a:t>NEURAL AUDIO &amp; TIMBRE CLONING</a:t>
            </a:r>
          </a:p>
          <a:p>
            <a:pPr>
              <a:spcAft>
                <a:spcPts val="200"/>
              </a:spcAft>
              <a:defRPr sz="850" b="1">
                <a:solidFill>
                  <a:srgbClr val="F8FAFC"/>
                </a:solidFill>
                <a:latin typeface="Helvetica"/>
              </a:defRPr>
            </a:pPr>
            <a:r>
              <a:t>CORE TECHNOLOGY</a:t>
            </a:r>
          </a:p>
          <a:p>
            <a:pPr>
              <a:spcAft>
                <a:spcPts val="600"/>
              </a:spcAft>
              <a:defRPr sz="919">
                <a:solidFill>
                  <a:srgbClr val="CBD5E1"/>
                </a:solidFill>
                <a:latin typeface="Arial"/>
              </a:defRPr>
            </a:pPr>
            <a:r>
              <a:t>Deep neural acoustic models that clone vocal timbre, pitch, inflection, and cadence from seconds of audio.</a:t>
            </a:r>
          </a:p>
          <a:p>
            <a:pPr>
              <a:spcAft>
                <a:spcPts val="200"/>
              </a:spcAft>
              <a:defRPr sz="850" b="1">
                <a:solidFill>
                  <a:srgbClr val="F8FAFC"/>
                </a:solidFill>
                <a:latin typeface="Helvetica"/>
              </a:defRPr>
            </a:pPr>
            <a:r>
              <a:t>IMPERSONATION CAPABILITY</a:t>
            </a:r>
          </a:p>
          <a:p>
            <a:pPr>
              <a:spcAft>
                <a:spcPts val="600"/>
              </a:spcAft>
              <a:defRPr sz="919">
                <a:solidFill>
                  <a:srgbClr val="CBD5E1"/>
                </a:solidFill>
                <a:latin typeface="Arial"/>
              </a:defRPr>
            </a:pPr>
            <a:r>
              <a:t>Replicates a recognized manager's or family member's voice over standard telephone bandwidth.</a:t>
            </a:r>
          </a:p>
          <a:p>
            <a:pPr>
              <a:spcAft>
                <a:spcPts val="200"/>
              </a:spcAft>
              <a:defRPr sz="850" b="1">
                <a:solidFill>
                  <a:srgbClr val="F8FAFC"/>
                </a:solidFill>
                <a:latin typeface="Helvetica"/>
              </a:defRPr>
            </a:pPr>
            <a:r>
              <a:t>ATTACK APPLICATION</a:t>
            </a:r>
          </a:p>
          <a:p>
            <a:pPr>
              <a:spcAft>
                <a:spcPts val="600"/>
              </a:spcAft>
              <a:defRPr sz="919">
                <a:solidFill>
                  <a:srgbClr val="CBD5E1"/>
                </a:solidFill>
                <a:latin typeface="Arial"/>
              </a:defRPr>
            </a:pPr>
            <a:r>
              <a:t>Urgent voice memos, simulated executive phone calls directing transfers, and deceptive vishing operations.</a:t>
            </a:r>
          </a:p>
          <a:p>
            <a:pPr>
              <a:spcAft>
                <a:spcPts val="200"/>
              </a:spcAft>
              <a:defRPr sz="850" b="1">
                <a:solidFill>
                  <a:srgbClr val="F8FAFC"/>
                </a:solidFill>
                <a:latin typeface="Helvetica"/>
              </a:defRPr>
            </a:pPr>
            <a:r>
              <a:t>DEFENSIVE CHALLENGE</a:t>
            </a:r>
          </a:p>
          <a:p>
            <a:pPr>
              <a:spcAft>
                <a:spcPts val="600"/>
              </a:spcAft>
              <a:defRPr sz="919">
                <a:solidFill>
                  <a:srgbClr val="CBD5E1"/>
                </a:solidFill>
                <a:latin typeface="Arial"/>
              </a:defRPr>
            </a:pPr>
            <a:r>
              <a:t>Acoustic familiarity triggers deep subconscious trust, directly disarming employee suspicion.</a:t>
            </a:r>
          </a:p>
        </p:txBody>
      </p:sp>
      <p:sp>
        <p:nvSpPr>
          <p:cNvPr id="13" name="Rounded Rectangle 12"/>
          <p:cNvSpPr/>
          <p:nvPr/>
        </p:nvSpPr>
        <p:spPr>
          <a:xfrm>
            <a:off x="8046720" y="1600200"/>
            <a:ext cx="3401568" cy="3977639"/>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64592"/>
          <a:lstStyle/>
          <a:p>
            <a:pPr algn="ctr">
              <a:defRPr sz="1300" b="1">
                <a:solidFill>
                  <a:srgbClr val="A78BFA"/>
                </a:solidFill>
                <a:latin typeface="Helvetica"/>
              </a:defRPr>
            </a:pPr>
            <a:r>
              <a:t>SYNTHETIC VIDEO</a:t>
            </a:r>
          </a:p>
          <a:p>
            <a:pPr>
              <a:spcAft>
                <a:spcPts val="1000"/>
              </a:spcAft>
              <a:defRPr sz="850" b="1">
                <a:solidFill>
                  <a:srgbClr val="94A3B8"/>
                </a:solidFill>
                <a:latin typeface="Helvetica"/>
              </a:defRPr>
            </a:pPr>
            <a:r>
              <a:t>GENERATIVE FACE &amp; MOTION SYNTHESIS</a:t>
            </a:r>
          </a:p>
          <a:p>
            <a:pPr>
              <a:spcAft>
                <a:spcPts val="200"/>
              </a:spcAft>
              <a:defRPr sz="850" b="1">
                <a:solidFill>
                  <a:srgbClr val="F8FAFC"/>
                </a:solidFill>
                <a:latin typeface="Helvetica"/>
              </a:defRPr>
            </a:pPr>
            <a:r>
              <a:t>CORE TECHNOLOGY</a:t>
            </a:r>
          </a:p>
          <a:p>
            <a:pPr>
              <a:spcAft>
                <a:spcPts val="600"/>
              </a:spcAft>
              <a:defRPr sz="919">
                <a:solidFill>
                  <a:srgbClr val="CBD5E1"/>
                </a:solidFill>
                <a:latin typeface="Arial"/>
              </a:defRPr>
            </a:pPr>
            <a:r>
              <a:t>Generative Adversarial Networks (GANs) and diffusion frameworks enabling real-time face and gesture swapping.</a:t>
            </a:r>
          </a:p>
          <a:p>
            <a:pPr>
              <a:spcAft>
                <a:spcPts val="200"/>
              </a:spcAft>
              <a:defRPr sz="850" b="1">
                <a:solidFill>
                  <a:srgbClr val="F8FAFC"/>
                </a:solidFill>
                <a:latin typeface="Helvetica"/>
              </a:defRPr>
            </a:pPr>
            <a:r>
              <a:t>IMPERSONATION CAPABILITY</a:t>
            </a:r>
          </a:p>
          <a:p>
            <a:pPr>
              <a:spcAft>
                <a:spcPts val="600"/>
              </a:spcAft>
              <a:defRPr sz="919">
                <a:solidFill>
                  <a:srgbClr val="CBD5E1"/>
                </a:solidFill>
                <a:latin typeface="Arial"/>
              </a:defRPr>
            </a:pPr>
            <a:r>
              <a:t>Simulates realistic facial movements, eye contact, and lip synchronization to match synthetic speech.</a:t>
            </a:r>
          </a:p>
          <a:p>
            <a:pPr>
              <a:spcAft>
                <a:spcPts val="200"/>
              </a:spcAft>
              <a:defRPr sz="850" b="1">
                <a:solidFill>
                  <a:srgbClr val="F8FAFC"/>
                </a:solidFill>
                <a:latin typeface="Helvetica"/>
              </a:defRPr>
            </a:pPr>
            <a:r>
              <a:t>ATTACK APPLICATION</a:t>
            </a:r>
          </a:p>
          <a:p>
            <a:pPr>
              <a:spcAft>
                <a:spcPts val="600"/>
              </a:spcAft>
              <a:defRPr sz="919">
                <a:solidFill>
                  <a:srgbClr val="CBD5E1"/>
                </a:solidFill>
                <a:latin typeface="Arial"/>
              </a:defRPr>
            </a:pPr>
            <a:r>
              <a:t>Fraudulent virtual video meetings, simulated executive video broadcasts, and deceptive remote employee onboarding.</a:t>
            </a:r>
          </a:p>
          <a:p>
            <a:pPr>
              <a:spcAft>
                <a:spcPts val="200"/>
              </a:spcAft>
              <a:defRPr sz="850" b="1">
                <a:solidFill>
                  <a:srgbClr val="F8FAFC"/>
                </a:solidFill>
                <a:latin typeface="Helvetica"/>
              </a:defRPr>
            </a:pPr>
            <a:r>
              <a:t>DEFENSIVE CHALLENGE</a:t>
            </a:r>
          </a:p>
          <a:p>
            <a:pPr>
              <a:spcAft>
                <a:spcPts val="600"/>
              </a:spcAft>
              <a:defRPr sz="919">
                <a:solidFill>
                  <a:srgbClr val="CBD5E1"/>
                </a:solidFill>
                <a:latin typeface="Arial"/>
              </a:defRPr>
            </a:pPr>
            <a:r>
              <a:t>Video presence has historically been viewed as the ultimate proof of authenticity, making deception potent.</a:t>
            </a:r>
          </a:p>
        </p:txBody>
      </p:sp>
      <p:sp>
        <p:nvSpPr>
          <p:cNvPr id="14" name="Rounded Rectangle 13"/>
          <p:cNvSpPr/>
          <p:nvPr/>
        </p:nvSpPr>
        <p:spPr>
          <a:xfrm>
            <a:off x="731520" y="5715000"/>
            <a:ext cx="10728655" cy="438912"/>
          </a:xfrm>
          <a:prstGeom prst="roundRect">
            <a:avLst/>
          </a:prstGeom>
          <a:solidFill>
            <a:srgbClr val="0F172A"/>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50" b="1">
                <a:solidFill>
                  <a:srgbClr val="38BDF8"/>
                </a:solidFill>
                <a:latin typeface="Arial"/>
              </a:defRPr>
            </a:pPr>
            <a:r>
              <a:t>CORE SECURITY LESSON: Sensory evidence is no longer proof of identity. In an age of synthetic media, appearance, voice, and video can no longer substitute for independent cryptographic and procedural verification.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HYPOTHETICAL CASE STUDY • OPERATIONAL ANALYSIS</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Case Scenario: The Urgent Voice Directive (The Fake Manager)</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Deconstructing how authority, urgency, synthetic voice, and psychological isolation converge in practice</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8 of 14</a:t>
            </a:r>
          </a:p>
        </p:txBody>
      </p:sp>
      <p:sp>
        <p:nvSpPr>
          <p:cNvPr id="11" name="Rounded Rectangle 10"/>
          <p:cNvSpPr/>
          <p:nvPr/>
        </p:nvSpPr>
        <p:spPr>
          <a:xfrm>
            <a:off x="731520" y="1600200"/>
            <a:ext cx="10728655" cy="173736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spcAft>
                <a:spcPts val="400"/>
              </a:spcAft>
              <a:defRPr sz="950" b="1">
                <a:solidFill>
                  <a:srgbClr val="FBBF24"/>
                </a:solidFill>
                <a:latin typeface="Helvetica"/>
              </a:defRPr>
            </a:pPr>
            <a:r>
              <a:t>HYPOTHETICAL SCENARIO: VOICE NOTE DELIVERED VIA MOBILE COLLABORATION PLATFORM</a:t>
            </a:r>
          </a:p>
          <a:p>
            <a:r>
              <a:rPr sz="1000">
                <a:solidFill>
                  <a:srgbClr val="94A3B8"/>
                </a:solidFill>
                <a:latin typeface="Arial"/>
              </a:rPr>
              <a:t>Context: An accounts officer in a university department receives an urgent voice note appearing to originate directly from their department head:
</a:t>
            </a:r>
          </a:p>
          <a:p>
            <a:r>
              <a:rPr sz="1150" b="1">
                <a:solidFill>
                  <a:srgbClr val="F8FAFC"/>
                </a:solidFill>
                <a:latin typeface="Arial"/>
              </a:rPr>
              <a:t>“Daksh, I’m currently stepping into a confidential academic review meeting. We need to clear an advance vendor payment of ₹75,000 for our laboratory software licenses immediately to avoid account suspension. I’ve sent the payment link via SMS. I cannot take incoming calls right now—please authorize this right away.”</a:t>
            </a:r>
          </a:p>
        </p:txBody>
      </p:sp>
      <p:sp>
        <p:nvSpPr>
          <p:cNvPr id="12" name="Rounded Rectangle 11"/>
          <p:cNvSpPr/>
          <p:nvPr/>
        </p:nvSpPr>
        <p:spPr>
          <a:xfrm>
            <a:off x="731520" y="3474720"/>
            <a:ext cx="2468880" cy="173736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defRPr sz="1200" b="1">
                <a:solidFill>
                  <a:srgbClr val="38BDF8"/>
                </a:solidFill>
                <a:latin typeface="Helvetica"/>
              </a:defRPr>
            </a:pPr>
            <a:r>
              <a:t>AUTHORITY</a:t>
            </a:r>
          </a:p>
          <a:p>
            <a:pPr>
              <a:spcAft>
                <a:spcPts val="600"/>
              </a:spcAft>
              <a:defRPr sz="850" b="1">
                <a:solidFill>
                  <a:srgbClr val="94A3B8"/>
                </a:solidFill>
                <a:latin typeface="Helvetica"/>
              </a:defRPr>
            </a:pPr>
            <a:r>
              <a:t>EMULATES SENIOR LEADERSHIP</a:t>
            </a:r>
          </a:p>
          <a:p>
            <a:pPr>
              <a:defRPr sz="919">
                <a:solidFill>
                  <a:srgbClr val="CBD5E1"/>
                </a:solidFill>
                <a:latin typeface="Arial"/>
              </a:defRPr>
            </a:pPr>
            <a:r>
              <a:t>The voice note purports to originate directly from a department head, creating immediate institutional compliance pressure.</a:t>
            </a:r>
          </a:p>
        </p:txBody>
      </p:sp>
      <p:sp>
        <p:nvSpPr>
          <p:cNvPr id="13" name="Rounded Rectangle 12"/>
          <p:cNvSpPr/>
          <p:nvPr/>
        </p:nvSpPr>
        <p:spPr>
          <a:xfrm>
            <a:off x="3483864" y="3474720"/>
            <a:ext cx="2468880" cy="1737360"/>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defRPr sz="1200" b="1">
                <a:solidFill>
                  <a:srgbClr val="F87171"/>
                </a:solidFill>
                <a:latin typeface="Helvetica"/>
              </a:defRPr>
            </a:pPr>
            <a:r>
              <a:t>URGENCY</a:t>
            </a:r>
          </a:p>
          <a:p>
            <a:pPr>
              <a:spcAft>
                <a:spcPts val="600"/>
              </a:spcAft>
              <a:defRPr sz="850" b="1">
                <a:solidFill>
                  <a:srgbClr val="94A3B8"/>
                </a:solidFill>
                <a:latin typeface="Helvetica"/>
              </a:defRPr>
            </a:pPr>
            <a:r>
              <a:t>MANUFACTURED CRISIS</a:t>
            </a:r>
          </a:p>
          <a:p>
            <a:pPr>
              <a:defRPr sz="919">
                <a:solidFill>
                  <a:srgbClr val="CBD5E1"/>
                </a:solidFill>
                <a:latin typeface="Arial"/>
              </a:defRPr>
            </a:pPr>
            <a:r>
              <a:t>The threat of immediate service suspension and the demand for instant execution denies the employee time for reflection.</a:t>
            </a:r>
          </a:p>
        </p:txBody>
      </p:sp>
      <p:sp>
        <p:nvSpPr>
          <p:cNvPr id="14" name="Rounded Rectangle 13"/>
          <p:cNvSpPr/>
          <p:nvPr/>
        </p:nvSpPr>
        <p:spPr>
          <a:xfrm>
            <a:off x="6236208" y="3474720"/>
            <a:ext cx="2468880" cy="173736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defRPr sz="1200" b="1">
                <a:solidFill>
                  <a:srgbClr val="FBBF24"/>
                </a:solidFill>
                <a:latin typeface="Helvetica"/>
              </a:defRPr>
            </a:pPr>
            <a:r>
              <a:t>SYNTHETIC TRUST</a:t>
            </a:r>
          </a:p>
          <a:p>
            <a:pPr>
              <a:spcAft>
                <a:spcPts val="600"/>
              </a:spcAft>
              <a:defRPr sz="850" b="1">
                <a:solidFill>
                  <a:srgbClr val="94A3B8"/>
                </a:solidFill>
                <a:latin typeface="Helvetica"/>
              </a:defRPr>
            </a:pPr>
            <a:r>
              <a:t>CLONED ACOUSTIC PROFILE</a:t>
            </a:r>
          </a:p>
          <a:p>
            <a:pPr>
              <a:defRPr sz="919">
                <a:solidFill>
                  <a:srgbClr val="CBD5E1"/>
                </a:solidFill>
                <a:latin typeface="Arial"/>
              </a:defRPr>
            </a:pPr>
            <a:r>
              <a:t>The voice note carries the exact acoustic timbre and cadence of the familiar manager, bypassing initial skepticism.</a:t>
            </a:r>
          </a:p>
        </p:txBody>
      </p:sp>
      <p:sp>
        <p:nvSpPr>
          <p:cNvPr id="15" name="Rounded Rectangle 14"/>
          <p:cNvSpPr/>
          <p:nvPr/>
        </p:nvSpPr>
        <p:spPr>
          <a:xfrm>
            <a:off x="8988552" y="3474720"/>
            <a:ext cx="2468880" cy="1737360"/>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defRPr sz="1200" b="1">
                <a:solidFill>
                  <a:srgbClr val="A78BFA"/>
                </a:solidFill>
                <a:latin typeface="Helvetica"/>
              </a:defRPr>
            </a:pPr>
            <a:r>
              <a:t>ISOLATION</a:t>
            </a:r>
          </a:p>
          <a:p>
            <a:pPr>
              <a:spcAft>
                <a:spcPts val="600"/>
              </a:spcAft>
              <a:defRPr sz="850" b="1">
                <a:solidFill>
                  <a:srgbClr val="94A3B8"/>
                </a:solidFill>
                <a:latin typeface="Helvetica"/>
              </a:defRPr>
            </a:pPr>
            <a:r>
              <a:t>VERIFICATION PRE-EMPTION</a:t>
            </a:r>
          </a:p>
          <a:p>
            <a:pPr>
              <a:defRPr sz="919">
                <a:solidFill>
                  <a:srgbClr val="CBD5E1"/>
                </a:solidFill>
                <a:latin typeface="Arial"/>
              </a:defRPr>
            </a:pPr>
            <a:r>
              <a:t>The phrase 'I cannot take calls right now' deliberately blocks the employee from attempting normal verbal confirmation.</a:t>
            </a:r>
          </a:p>
        </p:txBody>
      </p:sp>
      <p:sp>
        <p:nvSpPr>
          <p:cNvPr id="16" name="Rounded Rectangle 15"/>
          <p:cNvSpPr/>
          <p:nvPr/>
        </p:nvSpPr>
        <p:spPr>
          <a:xfrm>
            <a:off x="731520" y="5349240"/>
            <a:ext cx="10728655" cy="749808"/>
          </a:xfrm>
          <a:prstGeom prst="roundRect">
            <a:avLst/>
          </a:prstGeom>
          <a:solidFill>
            <a:srgbClr val="0F172A"/>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050" b="1">
                <a:solidFill>
                  <a:srgbClr val="F8FAFC"/>
                </a:solidFill>
                <a:latin typeface="Helvetica"/>
              </a:rPr>
              <a:t>THE CRITICAL QUESTION: Would the employee verify the request? </a:t>
            </a:r>
          </a:p>
          <a:p>
            <a:r>
              <a:rPr sz="1000">
                <a:solidFill>
                  <a:srgbClr val="34D399"/>
                </a:solidFill>
                <a:latin typeface="Arial"/>
              </a:rPr>
              <a:t>CORRECT DEFENSIVE ACTION: Verify through an independent, trusted channel. Under strict security protocol, high-value transfers or credential inputs must never be authorized based solely on an unverified audio message, regardless of apparent urgency or authority.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ATTACK LIFECYCLE • DEFENSE-IN-DEPTH</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The Social-Engineering Attack Chain: Multi-Stage Interventions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Tracing the attack progression and identifying where technical and human controls can interrupt the lifecycle</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9 of 14</a:t>
            </a:r>
          </a:p>
        </p:txBody>
      </p:sp>
      <p:sp>
        <p:nvSpPr>
          <p:cNvPr id="11" name="Rounded Rectangle 10"/>
          <p:cNvSpPr/>
          <p:nvPr/>
        </p:nvSpPr>
        <p:spPr>
          <a:xfrm>
            <a:off x="731520" y="1600200"/>
            <a:ext cx="1645920" cy="3977639"/>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38BDF8"/>
                </a:solidFill>
                <a:latin typeface="Helvetica"/>
              </a:defRPr>
            </a:pPr>
            <a:r>
              <a:t>STAGE 1</a:t>
            </a:r>
          </a:p>
          <a:p>
            <a:pPr>
              <a:spcAft>
                <a:spcPts val="800"/>
              </a:spcAft>
              <a:defRPr sz="1050" b="1">
                <a:solidFill>
                  <a:srgbClr val="F8FAFC"/>
                </a:solidFill>
                <a:latin typeface="Helvetica"/>
              </a:defRPr>
            </a:pPr>
            <a:r>
              <a:t>RECONNAISSANCE</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Gathers Open Source Intelligence (OSINT) from LinkedIn, social media, departmental directories, and publications.</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PRIVACY HYGIENE &amp; OPSEC</a:t>
            </a:r>
          </a:p>
          <a:p>
            <a:pPr>
              <a:spcAft>
                <a:spcPts val="500"/>
              </a:spcAft>
              <a:defRPr sz="880">
                <a:solidFill>
                  <a:srgbClr val="CBD5E1"/>
                </a:solidFill>
                <a:latin typeface="Arial"/>
              </a:defRPr>
            </a:pPr>
            <a:r>
              <a:t>Minimizing public credential leaks and sensitive institutional org-chart disclosures.</a:t>
            </a:r>
          </a:p>
        </p:txBody>
      </p:sp>
      <p:sp>
        <p:nvSpPr>
          <p:cNvPr id="12" name="Rounded Rectangle 11"/>
          <p:cNvSpPr/>
          <p:nvPr/>
        </p:nvSpPr>
        <p:spPr>
          <a:xfrm>
            <a:off x="2542032" y="1600200"/>
            <a:ext cx="1645920" cy="3977639"/>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38BDF8"/>
                </a:solidFill>
                <a:latin typeface="Helvetica"/>
              </a:defRPr>
            </a:pPr>
            <a:r>
              <a:t>STAGE 2</a:t>
            </a:r>
          </a:p>
          <a:p>
            <a:pPr>
              <a:spcAft>
                <a:spcPts val="800"/>
              </a:spcAft>
              <a:defRPr sz="1050" b="1">
                <a:solidFill>
                  <a:srgbClr val="F8FAFC"/>
                </a:solidFill>
                <a:latin typeface="Helvetica"/>
              </a:defRPr>
            </a:pPr>
            <a:r>
              <a:t>WEAPONISATION</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Generates contextual lures, synthetic voice notes, lookalike domains, or spoofed email addresses using AI.</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DMARC &amp; GATEWAY FILTERS</a:t>
            </a:r>
          </a:p>
          <a:p>
            <a:pPr>
              <a:spcAft>
                <a:spcPts val="500"/>
              </a:spcAft>
              <a:defRPr sz="880">
                <a:solidFill>
                  <a:srgbClr val="CBD5E1"/>
                </a:solidFill>
                <a:latin typeface="Arial"/>
              </a:defRPr>
            </a:pPr>
            <a:r>
              <a:t>Automated SPF, DKIM, and advanced heuristic email filtering to block malicious origins.</a:t>
            </a:r>
          </a:p>
        </p:txBody>
      </p:sp>
      <p:sp>
        <p:nvSpPr>
          <p:cNvPr id="13" name="Rounded Rectangle 12"/>
          <p:cNvSpPr/>
          <p:nvPr/>
        </p:nvSpPr>
        <p:spPr>
          <a:xfrm>
            <a:off x="4352544" y="1600200"/>
            <a:ext cx="1645920" cy="3977639"/>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FBBF24"/>
                </a:solidFill>
                <a:latin typeface="Helvetica"/>
              </a:defRPr>
            </a:pPr>
            <a:r>
              <a:t>STAGE 3</a:t>
            </a:r>
          </a:p>
          <a:p>
            <a:pPr>
              <a:spcAft>
                <a:spcPts val="800"/>
              </a:spcAft>
              <a:defRPr sz="1050" b="1">
                <a:solidFill>
                  <a:srgbClr val="F8FAFC"/>
                </a:solidFill>
                <a:latin typeface="Helvetica"/>
              </a:defRPr>
            </a:pPr>
            <a:r>
              <a:t>DELIVERY</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Transmits deceptive communication via corporate email, SMS, instant messaging, or phone call.</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ENDPOINT &amp; WEB SHIELDS</a:t>
            </a:r>
          </a:p>
          <a:p>
            <a:pPr>
              <a:spcAft>
                <a:spcPts val="500"/>
              </a:spcAft>
              <a:defRPr sz="880">
                <a:solidFill>
                  <a:srgbClr val="CBD5E1"/>
                </a:solidFill>
                <a:latin typeface="Arial"/>
              </a:defRPr>
            </a:pPr>
            <a:r>
              <a:t>URL sandboxing, browser-level reputation alerts, and external communication warning banners.</a:t>
            </a:r>
          </a:p>
        </p:txBody>
      </p:sp>
      <p:sp>
        <p:nvSpPr>
          <p:cNvPr id="14" name="Rounded Rectangle 13"/>
          <p:cNvSpPr/>
          <p:nvPr/>
        </p:nvSpPr>
        <p:spPr>
          <a:xfrm>
            <a:off x="6163056" y="1600200"/>
            <a:ext cx="1645920" cy="3977639"/>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F87171"/>
                </a:solidFill>
                <a:latin typeface="Helvetica"/>
              </a:defRPr>
            </a:pPr>
            <a:r>
              <a:t>STAGE 4</a:t>
            </a:r>
          </a:p>
          <a:p>
            <a:pPr>
              <a:spcAft>
                <a:spcPts val="800"/>
              </a:spcAft>
              <a:defRPr sz="1050" b="1">
                <a:solidFill>
                  <a:srgbClr val="F8FAFC"/>
                </a:solidFill>
                <a:latin typeface="Helvetica"/>
              </a:defRPr>
            </a:pPr>
            <a:r>
              <a:t>COGNITIVE EXPLOIT</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Engages human emotion: imposes artificial urgency, fear, authority, or curiosity to compel fast action.</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HUMAN AWARENESS PAUSE</a:t>
            </a:r>
          </a:p>
          <a:p>
            <a:pPr>
              <a:spcAft>
                <a:spcPts val="500"/>
              </a:spcAft>
              <a:defRPr sz="880">
                <a:solidFill>
                  <a:srgbClr val="CBD5E1"/>
                </a:solidFill>
                <a:latin typeface="Arial"/>
              </a:defRPr>
            </a:pPr>
            <a:r>
              <a:t>Security awareness training: recognizing psychological pressure triggers before acting.</a:t>
            </a:r>
          </a:p>
        </p:txBody>
      </p:sp>
      <p:sp>
        <p:nvSpPr>
          <p:cNvPr id="15" name="Rounded Rectangle 14"/>
          <p:cNvSpPr/>
          <p:nvPr/>
        </p:nvSpPr>
        <p:spPr>
          <a:xfrm>
            <a:off x="7973568" y="1600200"/>
            <a:ext cx="1645920" cy="3977639"/>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FBBF24"/>
                </a:solidFill>
                <a:latin typeface="Helvetica"/>
              </a:defRPr>
            </a:pPr>
            <a:r>
              <a:t>STAGE 5</a:t>
            </a:r>
          </a:p>
          <a:p>
            <a:pPr>
              <a:spcAft>
                <a:spcPts val="800"/>
              </a:spcAft>
              <a:defRPr sz="1050" b="1">
                <a:solidFill>
                  <a:srgbClr val="F8FAFC"/>
                </a:solidFill>
                <a:latin typeface="Helvetica"/>
              </a:defRPr>
            </a:pPr>
            <a:r>
              <a:t>VICTIM ACTION</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Victim clicks link, enters credentials on clone portal, approves MFA push prompt, or executes transfer.</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PHISHING-RESISTANT MFA</a:t>
            </a:r>
          </a:p>
          <a:p>
            <a:pPr>
              <a:spcAft>
                <a:spcPts val="500"/>
              </a:spcAft>
              <a:defRPr sz="880">
                <a:solidFill>
                  <a:srgbClr val="CBD5E1"/>
                </a:solidFill>
                <a:latin typeface="Arial"/>
              </a:defRPr>
            </a:pPr>
            <a:r>
              <a:t>FIDO2/WebAuthn hardware keys render harvested passwords completely useless to the attacker.</a:t>
            </a:r>
          </a:p>
        </p:txBody>
      </p:sp>
      <p:sp>
        <p:nvSpPr>
          <p:cNvPr id="16" name="Rounded Rectangle 15"/>
          <p:cNvSpPr/>
          <p:nvPr/>
        </p:nvSpPr>
        <p:spPr>
          <a:xfrm>
            <a:off x="9784080" y="1600200"/>
            <a:ext cx="1645920" cy="3977639"/>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46304"/>
          <a:lstStyle/>
          <a:p>
            <a:pPr algn="ctr">
              <a:defRPr sz="900" b="1">
                <a:solidFill>
                  <a:srgbClr val="A78BFA"/>
                </a:solidFill>
                <a:latin typeface="Helvetica"/>
              </a:defRPr>
            </a:pPr>
            <a:r>
              <a:t>STAGE 6</a:t>
            </a:r>
          </a:p>
          <a:p>
            <a:pPr>
              <a:spcAft>
                <a:spcPts val="800"/>
              </a:spcAft>
              <a:defRPr sz="1050" b="1">
                <a:solidFill>
                  <a:srgbClr val="F8FAFC"/>
                </a:solidFill>
                <a:latin typeface="Helvetica"/>
              </a:defRPr>
            </a:pPr>
            <a:r>
              <a:t>COMPROMISE</a:t>
            </a:r>
          </a:p>
          <a:p>
            <a:pPr>
              <a:spcAft>
                <a:spcPts val="100"/>
              </a:spcAft>
              <a:defRPr sz="800" b="1">
                <a:solidFill>
                  <a:srgbClr val="94A3B8"/>
                </a:solidFill>
                <a:latin typeface="Helvetica"/>
              </a:defRPr>
            </a:pPr>
            <a:r>
              <a:t>ATTACKER FOCUS</a:t>
            </a:r>
          </a:p>
          <a:p>
            <a:pPr>
              <a:spcAft>
                <a:spcPts val="500"/>
              </a:spcAft>
              <a:defRPr sz="880">
                <a:solidFill>
                  <a:srgbClr val="CBD5E1"/>
                </a:solidFill>
                <a:latin typeface="Arial"/>
              </a:defRPr>
            </a:pPr>
            <a:r>
              <a:t>Adversary exfiltrates confidential data, redirects organizational capital, or moves laterally inside systems.</a:t>
            </a:r>
          </a:p>
          <a:p>
            <a:pPr>
              <a:spcAft>
                <a:spcPts val="100"/>
              </a:spcAft>
              <a:defRPr sz="800" b="1">
                <a:solidFill>
                  <a:srgbClr val="94A3B8"/>
                </a:solidFill>
                <a:latin typeface="Helvetica"/>
              </a:defRPr>
            </a:pPr>
            <a:r>
              <a:t>DEFENSIVE GATE</a:t>
            </a:r>
          </a:p>
          <a:p>
            <a:pPr>
              <a:spcAft>
                <a:spcPts val="100"/>
              </a:spcAft>
              <a:defRPr sz="800" b="1">
                <a:solidFill>
                  <a:srgbClr val="94A3B8"/>
                </a:solidFill>
                <a:latin typeface="Helvetica"/>
              </a:defRPr>
            </a:pPr>
            <a:r>
              <a:t>LEAST PRIVILEGE &amp; SIEM</a:t>
            </a:r>
          </a:p>
          <a:p>
            <a:pPr>
              <a:spcAft>
                <a:spcPts val="500"/>
              </a:spcAft>
              <a:defRPr sz="880">
                <a:solidFill>
                  <a:srgbClr val="CBD5E1"/>
                </a:solidFill>
                <a:latin typeface="Arial"/>
              </a:defRPr>
            </a:pPr>
            <a:r>
              <a:t>Zero trust role boundaries, transaction anomaly detection, and immediate incident containment.</a:t>
            </a:r>
          </a:p>
        </p:txBody>
      </p:sp>
      <p:sp>
        <p:nvSpPr>
          <p:cNvPr id="17" name="Rounded Rectangle 16"/>
          <p:cNvSpPr/>
          <p:nvPr/>
        </p:nvSpPr>
        <p:spPr>
          <a:xfrm>
            <a:off x="731520" y="5715000"/>
            <a:ext cx="10728655" cy="438912"/>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50" b="1">
                <a:solidFill>
                  <a:srgbClr val="38BDF8"/>
                </a:solidFill>
                <a:latin typeface="Arial"/>
              </a:defRPr>
            </a:pPr>
            <a:r>
              <a:t>DEFENSE-IN-DEPTH PRINCIPLE: An attack requires an unbroken chain of consecutive successes. Security controls are positioned at multiple intervention points—breaking the chain at any single stage prevents total compromise.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SECURITY ARCHITECTURE • COMPLEMENTARY CONTROLS</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Technical Security vs. Human Controls: A Complementary Ecosystem</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Why technological safeguards and human behavioral verification must operate as an integrated defensive system</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10 of 14</a:t>
            </a:r>
          </a:p>
        </p:txBody>
      </p:sp>
      <p:sp>
        <p:nvSpPr>
          <p:cNvPr id="11" name="Rounded Rectangle 10"/>
          <p:cNvSpPr/>
          <p:nvPr/>
        </p:nvSpPr>
        <p:spPr>
          <a:xfrm>
            <a:off x="731520" y="1600200"/>
            <a:ext cx="5230368" cy="3977639"/>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300" b="1">
                <a:solidFill>
                  <a:srgbClr val="38BDF8"/>
                </a:solidFill>
                <a:latin typeface="Helvetica"/>
              </a:defRPr>
            </a:pPr>
            <a:r>
              <a:t>TECHNICAL SAFEGUARDS</a:t>
            </a:r>
          </a:p>
          <a:p>
            <a:pPr>
              <a:spcAft>
                <a:spcPts val="1000"/>
              </a:spcAft>
              <a:defRPr sz="850" b="1">
                <a:solidFill>
                  <a:srgbClr val="BAE6FD"/>
                </a:solidFill>
                <a:latin typeface="Helvetica"/>
              </a:defRPr>
            </a:pPr>
            <a:r>
              <a:t>INFRASTRUCTURE, PROTOCOLS &amp; CRYPTOGRAPHY</a:t>
            </a:r>
          </a:p>
          <a:p>
            <a:pPr>
              <a:spcAft>
                <a:spcPts val="700"/>
              </a:spcAft>
            </a:pPr>
            <a:r>
              <a:rPr sz="980" b="1">
                <a:solidFill>
                  <a:srgbClr val="F8FAFC"/>
                </a:solidFill>
                <a:latin typeface="Helvetica"/>
              </a:rPr>
              <a:t>• Phishing-Resistant MFA (FIDO2): </a:t>
            </a:r>
            <a:r>
              <a:rPr sz="919">
                <a:solidFill>
                  <a:srgbClr val="94A3B8"/>
                </a:solidFill>
                <a:latin typeface="Arial"/>
              </a:rPr>
              <a:t>Cryptographically binds authentication to verified domain origins via WebAuthn, defeating credential harvesting and relay attacks.</a:t>
            </a:r>
          </a:p>
          <a:p>
            <a:pPr>
              <a:spcAft>
                <a:spcPts val="700"/>
              </a:spcAft>
            </a:pPr>
            <a:r>
              <a:rPr sz="980" b="1">
                <a:solidFill>
                  <a:srgbClr val="F8FAFC"/>
                </a:solidFill>
                <a:latin typeface="Helvetica"/>
              </a:rPr>
              <a:t>• Email Authentication (DMARC / SPF / DKIM): </a:t>
            </a:r>
            <a:r>
              <a:rPr sz="919">
                <a:solidFill>
                  <a:srgbClr val="94A3B8"/>
                </a:solidFill>
                <a:latin typeface="Arial"/>
              </a:rPr>
              <a:t>Validates sender domain authenticity, preventing direct domain spoofing of executive and departmental addresses.</a:t>
            </a:r>
          </a:p>
          <a:p>
            <a:pPr>
              <a:spcAft>
                <a:spcPts val="700"/>
              </a:spcAft>
            </a:pPr>
            <a:r>
              <a:rPr sz="980" b="1">
                <a:solidFill>
                  <a:srgbClr val="F8FAFC"/>
                </a:solidFill>
                <a:latin typeface="Helvetica"/>
              </a:rPr>
              <a:t>• Endpoint Protection &amp; Automated Sandboxing: </a:t>
            </a:r>
            <a:r>
              <a:rPr sz="919">
                <a:solidFill>
                  <a:srgbClr val="94A3B8"/>
                </a:solidFill>
                <a:latin typeface="Arial"/>
              </a:rPr>
              <a:t>Detonates untrusted attachments, analyzes dynamic web links, and flags known malware payloads before reaching inboxes.</a:t>
            </a:r>
          </a:p>
          <a:p>
            <a:pPr>
              <a:spcAft>
                <a:spcPts val="700"/>
              </a:spcAft>
            </a:pPr>
            <a:r>
              <a:rPr sz="980" b="1">
                <a:solidFill>
                  <a:srgbClr val="F8FAFC"/>
                </a:solidFill>
                <a:latin typeface="Helvetica"/>
              </a:rPr>
              <a:t>• Behavioral Telemetry &amp; SIEM Monitoring: </a:t>
            </a:r>
            <a:r>
              <a:rPr sz="919">
                <a:solidFill>
                  <a:srgbClr val="94A3B8"/>
                </a:solidFill>
                <a:latin typeface="Arial"/>
              </a:rPr>
              <a:t>Detects anomalous access patterns: sudden out-of-region logins, irregular data egress, and uncharacteristic administrative actions.</a:t>
            </a:r>
          </a:p>
        </p:txBody>
      </p:sp>
      <p:sp>
        <p:nvSpPr>
          <p:cNvPr id="12" name="Rounded Rectangle 11"/>
          <p:cNvSpPr/>
          <p:nvPr/>
        </p:nvSpPr>
        <p:spPr>
          <a:xfrm>
            <a:off x="6227064" y="1600200"/>
            <a:ext cx="5230368" cy="3977639"/>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182880"/>
          <a:lstStyle/>
          <a:p>
            <a:pPr algn="ctr">
              <a:defRPr sz="1300" b="1">
                <a:solidFill>
                  <a:srgbClr val="34D399"/>
                </a:solidFill>
                <a:latin typeface="Helvetica"/>
              </a:defRPr>
            </a:pPr>
            <a:r>
              <a:t>HUMAN &amp; PROCEDURAL CONTROLS</a:t>
            </a:r>
          </a:p>
          <a:p>
            <a:pPr>
              <a:spcAft>
                <a:spcPts val="1000"/>
              </a:spcAft>
              <a:defRPr sz="850" b="1">
                <a:solidFill>
                  <a:srgbClr val="A7F3D0"/>
                </a:solidFill>
                <a:latin typeface="Helvetica"/>
              </a:defRPr>
            </a:pPr>
            <a:r>
              <a:t>VERIFICATION, COGNITION &amp; ORGANIZATIONAL CULTURE</a:t>
            </a:r>
          </a:p>
          <a:p>
            <a:pPr>
              <a:spcAft>
                <a:spcPts val="700"/>
              </a:spcAft>
            </a:pPr>
            <a:r>
              <a:rPr sz="980" b="1">
                <a:solidFill>
                  <a:srgbClr val="F8FAFC"/>
                </a:solidFill>
                <a:latin typeface="Helvetica"/>
              </a:rPr>
              <a:t>• Independent Out-of-Band Verification: </a:t>
            </a:r>
            <a:r>
              <a:rPr sz="919">
                <a:solidFill>
                  <a:srgbClr val="94A3B8"/>
                </a:solidFill>
                <a:latin typeface="Arial"/>
              </a:rPr>
              <a:t>Mandating that high-consequence requests (financial transfers, credential resets) must be confirmed via a secondary trusted channel.</a:t>
            </a:r>
          </a:p>
          <a:p>
            <a:pPr>
              <a:spcAft>
                <a:spcPts val="700"/>
              </a:spcAft>
            </a:pPr>
            <a:r>
              <a:rPr sz="980" b="1">
                <a:solidFill>
                  <a:srgbClr val="F8FAFC"/>
                </a:solidFill>
                <a:latin typeface="Helvetica"/>
              </a:rPr>
              <a:t>• Cognitive Pause &amp; Skepticism: </a:t>
            </a:r>
            <a:r>
              <a:rPr sz="919">
                <a:solidFill>
                  <a:srgbClr val="94A3B8"/>
                </a:solidFill>
                <a:latin typeface="Arial"/>
              </a:rPr>
              <a:t>Training personnel to recognize psychological urgency, authority pressure, and manufactured fear as indicators of deception.</a:t>
            </a:r>
          </a:p>
          <a:p>
            <a:pPr>
              <a:spcAft>
                <a:spcPts val="700"/>
              </a:spcAft>
            </a:pPr>
            <a:r>
              <a:rPr sz="980" b="1">
                <a:solidFill>
                  <a:srgbClr val="F8FAFC"/>
                </a:solidFill>
                <a:latin typeface="Helvetica"/>
              </a:rPr>
              <a:t>• Separation of Duties (Dual Authorization): </a:t>
            </a:r>
            <a:r>
              <a:rPr sz="919">
                <a:solidFill>
                  <a:srgbClr val="94A3B8"/>
                </a:solidFill>
                <a:latin typeface="Arial"/>
              </a:rPr>
              <a:t>Ensuring that no single employee has the sole authority to execute irreversible capital transfers or sensitive privilege escalations.</a:t>
            </a:r>
          </a:p>
          <a:p>
            <a:pPr>
              <a:spcAft>
                <a:spcPts val="700"/>
              </a:spcAft>
            </a:pPr>
            <a:r>
              <a:rPr sz="980" b="1">
                <a:solidFill>
                  <a:srgbClr val="F8FAFC"/>
                </a:solidFill>
                <a:latin typeface="Helvetica"/>
              </a:rPr>
              <a:t>• Blameless Incident Reporting Culture: </a:t>
            </a:r>
            <a:r>
              <a:rPr sz="919">
                <a:solidFill>
                  <a:srgbClr val="94A3B8"/>
                </a:solidFill>
                <a:latin typeface="Arial"/>
              </a:rPr>
              <a:t>Empowering users to flag suspicious interactions rapidly without fear of embarrassment or disciplinary retribution.</a:t>
            </a:r>
          </a:p>
        </p:txBody>
      </p:sp>
      <p:sp>
        <p:nvSpPr>
          <p:cNvPr id="13" name="Rounded Rectangle 12"/>
          <p:cNvSpPr/>
          <p:nvPr/>
        </p:nvSpPr>
        <p:spPr>
          <a:xfrm>
            <a:off x="731520" y="5715000"/>
            <a:ext cx="10728655" cy="438912"/>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50" b="1">
                <a:solidFill>
                  <a:srgbClr val="38BDF8"/>
                </a:solidFill>
                <a:latin typeface="Arial"/>
              </a:defRPr>
            </a:pPr>
            <a:r>
              <a:t>CORE SYNTHESIS: Technical controls defend the digital infrastructure; human awareness interprets the operational context. Cybersecurity is strongest when technical tools and human procedures are designed to reinforce one another.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PRACTICAL MITIGATION • OPERATIONAL PLAYBOOK</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How to Defend Against Social Engineering: The S-V-P-R Framework</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A practical, memorable four-step defensive framework for individuals and organizations</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11 of 14</a:t>
            </a:r>
          </a:p>
        </p:txBody>
      </p:sp>
      <p:sp>
        <p:nvSpPr>
          <p:cNvPr id="11" name="Rounded Rectangle 10"/>
          <p:cNvSpPr/>
          <p:nvPr/>
        </p:nvSpPr>
        <p:spPr>
          <a:xfrm>
            <a:off x="731520" y="1600200"/>
            <a:ext cx="2468880" cy="388620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FBBF24"/>
                </a:solidFill>
                <a:latin typeface="Helvetica"/>
              </a:defRPr>
            </a:pPr>
            <a:r>
              <a:t>1. STOP</a:t>
            </a:r>
          </a:p>
          <a:p>
            <a:pPr>
              <a:spcAft>
                <a:spcPts val="1000"/>
              </a:spcAft>
              <a:defRPr sz="850" b="1">
                <a:solidFill>
                  <a:srgbClr val="94A3B8"/>
                </a:solidFill>
                <a:latin typeface="Helvetica"/>
              </a:defRPr>
            </a:pPr>
            <a:r>
              <a:t>COGNITIVE PAUSE</a:t>
            </a:r>
          </a:p>
          <a:p>
            <a:pPr>
              <a:spcAft>
                <a:spcPts val="200"/>
              </a:spcAft>
              <a:defRPr sz="850" b="1">
                <a:solidFill>
                  <a:srgbClr val="F8FAFC"/>
                </a:solidFill>
                <a:latin typeface="Helvetica"/>
              </a:defRPr>
            </a:pPr>
            <a:r>
              <a:t>CORE PRINCIPLE</a:t>
            </a:r>
          </a:p>
          <a:p>
            <a:pPr>
              <a:spcAft>
                <a:spcPts val="600"/>
              </a:spcAft>
              <a:defRPr sz="919">
                <a:solidFill>
                  <a:srgbClr val="CBD5E1"/>
                </a:solidFill>
                <a:latin typeface="Arial"/>
              </a:defRPr>
            </a:pPr>
            <a:r>
              <a:t>Never react impulsively to high-pressure, emotional, or time-sensitive communications.</a:t>
            </a:r>
          </a:p>
          <a:p>
            <a:pPr>
              <a:spcAft>
                <a:spcPts val="200"/>
              </a:spcAft>
              <a:defRPr sz="850" b="1">
                <a:solidFill>
                  <a:srgbClr val="F8FAFC"/>
                </a:solidFill>
                <a:latin typeface="Helvetica"/>
              </a:defRPr>
            </a:pPr>
            <a:r>
              <a:t>ACTIONABLE RULE</a:t>
            </a:r>
          </a:p>
          <a:p>
            <a:pPr>
              <a:spcAft>
                <a:spcPts val="600"/>
              </a:spcAft>
              <a:defRPr sz="919">
                <a:solidFill>
                  <a:srgbClr val="CBD5E1"/>
                </a:solidFill>
                <a:latin typeface="Arial"/>
              </a:defRPr>
            </a:pPr>
            <a:r>
              <a:t>Treat extreme urgency, unexpected authority, and secrecy demands as primary indicators of risk.</a:t>
            </a:r>
          </a:p>
          <a:p>
            <a:pPr>
              <a:spcAft>
                <a:spcPts val="200"/>
              </a:spcAft>
              <a:defRPr sz="850" b="1">
                <a:solidFill>
                  <a:srgbClr val="F8FAFC"/>
                </a:solidFill>
                <a:latin typeface="Helvetica"/>
              </a:defRPr>
            </a:pPr>
            <a:r>
              <a:t>PRACTICAL HABIT</a:t>
            </a:r>
          </a:p>
          <a:p>
            <a:pPr>
              <a:spcAft>
                <a:spcPts val="600"/>
              </a:spcAft>
              <a:defRPr sz="919">
                <a:solidFill>
                  <a:srgbClr val="CBD5E1"/>
                </a:solidFill>
                <a:latin typeface="Arial"/>
              </a:defRPr>
            </a:pPr>
            <a:r>
              <a:t>Step back physically and mentally before clicking any link or disclosing sensitive data.</a:t>
            </a:r>
          </a:p>
        </p:txBody>
      </p:sp>
      <p:sp>
        <p:nvSpPr>
          <p:cNvPr id="12" name="Rounded Rectangle 11"/>
          <p:cNvSpPr/>
          <p:nvPr/>
        </p:nvSpPr>
        <p:spPr>
          <a:xfrm>
            <a:off x="3483864" y="1600200"/>
            <a:ext cx="2468880" cy="388620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38BDF8"/>
                </a:solidFill>
                <a:latin typeface="Helvetica"/>
              </a:defRPr>
            </a:pPr>
            <a:r>
              <a:t>2. VERIFY</a:t>
            </a:r>
          </a:p>
          <a:p>
            <a:pPr>
              <a:spcAft>
                <a:spcPts val="1000"/>
              </a:spcAft>
              <a:defRPr sz="850" b="1">
                <a:solidFill>
                  <a:srgbClr val="94A3B8"/>
                </a:solidFill>
                <a:latin typeface="Helvetica"/>
              </a:defRPr>
            </a:pPr>
            <a:r>
              <a:t>OUT-OF-BAND VALIDATION</a:t>
            </a:r>
          </a:p>
          <a:p>
            <a:pPr>
              <a:spcAft>
                <a:spcPts val="200"/>
              </a:spcAft>
              <a:defRPr sz="850" b="1">
                <a:solidFill>
                  <a:srgbClr val="F8FAFC"/>
                </a:solidFill>
                <a:latin typeface="Helvetica"/>
              </a:defRPr>
            </a:pPr>
            <a:r>
              <a:t>CORE PRINCIPLE</a:t>
            </a:r>
          </a:p>
          <a:p>
            <a:pPr>
              <a:spcAft>
                <a:spcPts val="600"/>
              </a:spcAft>
              <a:defRPr sz="919">
                <a:solidFill>
                  <a:srgbClr val="CBD5E1"/>
                </a:solidFill>
                <a:latin typeface="Arial"/>
              </a:defRPr>
            </a:pPr>
            <a:r>
              <a:t>Confirm authenticity through a completely independent, pre-established channel.</a:t>
            </a:r>
          </a:p>
          <a:p>
            <a:pPr>
              <a:spcAft>
                <a:spcPts val="200"/>
              </a:spcAft>
              <a:defRPr sz="850" b="1">
                <a:solidFill>
                  <a:srgbClr val="F8FAFC"/>
                </a:solidFill>
                <a:latin typeface="Helvetica"/>
              </a:defRPr>
            </a:pPr>
            <a:r>
              <a:t>ACTIONABLE RULE</a:t>
            </a:r>
          </a:p>
          <a:p>
            <a:pPr>
              <a:spcAft>
                <a:spcPts val="600"/>
              </a:spcAft>
              <a:defRPr sz="919">
                <a:solidFill>
                  <a:srgbClr val="CBD5E1"/>
                </a:solidFill>
                <a:latin typeface="Arial"/>
              </a:defRPr>
            </a:pPr>
            <a:r>
              <a:t>Never verify a request using contact information provided inside the suspicious message itself.</a:t>
            </a:r>
          </a:p>
          <a:p>
            <a:pPr>
              <a:spcAft>
                <a:spcPts val="200"/>
              </a:spcAft>
              <a:defRPr sz="850" b="1">
                <a:solidFill>
                  <a:srgbClr val="F8FAFC"/>
                </a:solidFill>
                <a:latin typeface="Helvetica"/>
              </a:defRPr>
            </a:pPr>
            <a:r>
              <a:t>PRACTICAL HABIT</a:t>
            </a:r>
          </a:p>
          <a:p>
            <a:pPr>
              <a:spcAft>
                <a:spcPts val="600"/>
              </a:spcAft>
              <a:defRPr sz="919">
                <a:solidFill>
                  <a:srgbClr val="CBD5E1"/>
                </a:solidFill>
                <a:latin typeface="Arial"/>
              </a:defRPr>
            </a:pPr>
            <a:r>
              <a:t>Lookup official phone directories or confirm verbally in person prior to transferring assets.</a:t>
            </a:r>
          </a:p>
        </p:txBody>
      </p:sp>
      <p:sp>
        <p:nvSpPr>
          <p:cNvPr id="13" name="Rounded Rectangle 12"/>
          <p:cNvSpPr/>
          <p:nvPr/>
        </p:nvSpPr>
        <p:spPr>
          <a:xfrm>
            <a:off x="6236208" y="1600200"/>
            <a:ext cx="2468880" cy="388620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34D399"/>
                </a:solidFill>
                <a:latin typeface="Helvetica"/>
              </a:defRPr>
            </a:pPr>
            <a:r>
              <a:t>3. PROTECT</a:t>
            </a:r>
          </a:p>
          <a:p>
            <a:pPr>
              <a:spcAft>
                <a:spcPts val="1000"/>
              </a:spcAft>
              <a:defRPr sz="850" b="1">
                <a:solidFill>
                  <a:srgbClr val="94A3B8"/>
                </a:solidFill>
                <a:latin typeface="Helvetica"/>
              </a:defRPr>
            </a:pPr>
            <a:r>
              <a:t>TECHNICAL HARDENING</a:t>
            </a:r>
          </a:p>
          <a:p>
            <a:pPr>
              <a:spcAft>
                <a:spcPts val="200"/>
              </a:spcAft>
              <a:defRPr sz="850" b="1">
                <a:solidFill>
                  <a:srgbClr val="F8FAFC"/>
                </a:solidFill>
                <a:latin typeface="Helvetica"/>
              </a:defRPr>
            </a:pPr>
            <a:r>
              <a:t>CORE PRINCIPLE</a:t>
            </a:r>
          </a:p>
          <a:p>
            <a:pPr>
              <a:spcAft>
                <a:spcPts val="600"/>
              </a:spcAft>
              <a:defRPr sz="919">
                <a:solidFill>
                  <a:srgbClr val="CBD5E1"/>
                </a:solidFill>
                <a:latin typeface="Arial"/>
              </a:defRPr>
            </a:pPr>
            <a:r>
              <a:t>Implement strong cryptographic safeguards that reduce reliance on human memory alone.</a:t>
            </a:r>
          </a:p>
          <a:p>
            <a:pPr>
              <a:spcAft>
                <a:spcPts val="200"/>
              </a:spcAft>
              <a:defRPr sz="850" b="1">
                <a:solidFill>
                  <a:srgbClr val="F8FAFC"/>
                </a:solidFill>
                <a:latin typeface="Helvetica"/>
              </a:defRPr>
            </a:pPr>
            <a:r>
              <a:t>ACTIONABLE RULE</a:t>
            </a:r>
          </a:p>
          <a:p>
            <a:pPr>
              <a:spcAft>
                <a:spcPts val="600"/>
              </a:spcAft>
              <a:defRPr sz="919">
                <a:solidFill>
                  <a:srgbClr val="CBD5E1"/>
                </a:solidFill>
                <a:latin typeface="Arial"/>
              </a:defRPr>
            </a:pPr>
            <a:r>
              <a:t>Enforce phishing-resistant multi-factor authentication (FIDO2 / Hardware Security Keys).</a:t>
            </a:r>
          </a:p>
          <a:p>
            <a:pPr>
              <a:spcAft>
                <a:spcPts val="200"/>
              </a:spcAft>
              <a:defRPr sz="850" b="1">
                <a:solidFill>
                  <a:srgbClr val="F8FAFC"/>
                </a:solidFill>
                <a:latin typeface="Helvetica"/>
              </a:defRPr>
            </a:pPr>
            <a:r>
              <a:t>PRACTICAL HABIT</a:t>
            </a:r>
          </a:p>
          <a:p>
            <a:pPr>
              <a:spcAft>
                <a:spcPts val="600"/>
              </a:spcAft>
              <a:defRPr sz="919">
                <a:solidFill>
                  <a:srgbClr val="CBD5E1"/>
                </a:solidFill>
                <a:latin typeface="Arial"/>
              </a:defRPr>
            </a:pPr>
            <a:r>
              <a:t>Utilize enterprise password managers and adhere strictly to least-privilege role boundaries.</a:t>
            </a:r>
          </a:p>
        </p:txBody>
      </p:sp>
      <p:sp>
        <p:nvSpPr>
          <p:cNvPr id="14" name="Rounded Rectangle 13"/>
          <p:cNvSpPr/>
          <p:nvPr/>
        </p:nvSpPr>
        <p:spPr>
          <a:xfrm>
            <a:off x="8988552" y="1600200"/>
            <a:ext cx="2468880" cy="3886200"/>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400" b="1">
                <a:solidFill>
                  <a:srgbClr val="A78BFA"/>
                </a:solidFill>
                <a:latin typeface="Helvetica"/>
              </a:defRPr>
            </a:pPr>
            <a:r>
              <a:t>4. REPORT</a:t>
            </a:r>
          </a:p>
          <a:p>
            <a:pPr>
              <a:spcAft>
                <a:spcPts val="1000"/>
              </a:spcAft>
              <a:defRPr sz="850" b="1">
                <a:solidFill>
                  <a:srgbClr val="94A3B8"/>
                </a:solidFill>
                <a:latin typeface="Helvetica"/>
              </a:defRPr>
            </a:pPr>
            <a:r>
              <a:t>ORGANIZATIONAL TELEMETRY</a:t>
            </a:r>
          </a:p>
          <a:p>
            <a:pPr>
              <a:spcAft>
                <a:spcPts val="200"/>
              </a:spcAft>
              <a:defRPr sz="850" b="1">
                <a:solidFill>
                  <a:srgbClr val="F8FAFC"/>
                </a:solidFill>
                <a:latin typeface="Helvetica"/>
              </a:defRPr>
            </a:pPr>
            <a:r>
              <a:t>CORE PRINCIPLE</a:t>
            </a:r>
          </a:p>
          <a:p>
            <a:pPr>
              <a:spcAft>
                <a:spcPts val="600"/>
              </a:spcAft>
              <a:defRPr sz="919">
                <a:solidFill>
                  <a:srgbClr val="CBD5E1"/>
                </a:solidFill>
                <a:latin typeface="Arial"/>
              </a:defRPr>
            </a:pPr>
            <a:r>
              <a:t>Transform individual awareness into collective organizational intelligence.</a:t>
            </a:r>
          </a:p>
          <a:p>
            <a:pPr>
              <a:spcAft>
                <a:spcPts val="200"/>
              </a:spcAft>
              <a:defRPr sz="850" b="1">
                <a:solidFill>
                  <a:srgbClr val="F8FAFC"/>
                </a:solidFill>
                <a:latin typeface="Helvetica"/>
              </a:defRPr>
            </a:pPr>
            <a:r>
              <a:t>ACTIONABLE RULE</a:t>
            </a:r>
          </a:p>
          <a:p>
            <a:pPr>
              <a:spcAft>
                <a:spcPts val="600"/>
              </a:spcAft>
              <a:defRPr sz="919">
                <a:solidFill>
                  <a:srgbClr val="CBD5E1"/>
                </a:solidFill>
                <a:latin typeface="Arial"/>
              </a:defRPr>
            </a:pPr>
            <a:r>
              <a:t>Promptly flag suspicious messages, unexpected invoices, and irregular calls to the security team.</a:t>
            </a:r>
          </a:p>
          <a:p>
            <a:pPr>
              <a:spcAft>
                <a:spcPts val="200"/>
              </a:spcAft>
              <a:defRPr sz="850" b="1">
                <a:solidFill>
                  <a:srgbClr val="F8FAFC"/>
                </a:solidFill>
                <a:latin typeface="Helvetica"/>
              </a:defRPr>
            </a:pPr>
            <a:r>
              <a:t>PRACTICAL HABIT</a:t>
            </a:r>
          </a:p>
          <a:p>
            <a:pPr>
              <a:spcAft>
                <a:spcPts val="600"/>
              </a:spcAft>
              <a:defRPr sz="919">
                <a:solidFill>
                  <a:srgbClr val="CBD5E1"/>
                </a:solidFill>
                <a:latin typeface="Arial"/>
              </a:defRPr>
            </a:pPr>
            <a:r>
              <a:t>Reporting enables security teams to blacklist hostile domains and shield colleagues.</a:t>
            </a:r>
          </a:p>
        </p:txBody>
      </p:sp>
      <p:sp>
        <p:nvSpPr>
          <p:cNvPr id="15" name="Rounded Rectangle 14"/>
          <p:cNvSpPr/>
          <p:nvPr/>
        </p:nvSpPr>
        <p:spPr>
          <a:xfrm>
            <a:off x="731520" y="5623560"/>
            <a:ext cx="10728655" cy="530352"/>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91440"/>
          <a:lstStyle/>
          <a:p>
            <a:pPr algn="ctr"/>
            <a:r>
              <a:rPr sz="1050" b="1">
                <a:solidFill>
                  <a:srgbClr val="F87171"/>
                </a:solidFill>
                <a:latin typeface="Helvetica"/>
              </a:rPr>
              <a:t>THE GOLDEN RULE OF VERIFICATION: </a:t>
            </a:r>
            <a:r>
              <a:rPr sz="1050" b="1">
                <a:solidFill>
                  <a:srgbClr val="F8FAFC"/>
                </a:solidFill>
                <a:latin typeface="Arial"/>
              </a:rPr>
              <a:t>Never verify a suspicious request using the contact details, phone numbers, or links provided by the suspicious request itself.</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STRATEGIC EVOLUTION • PRINCIPLES FOR THE AI ERA</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The Security Challenge Is Changing: Strategic Principles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Adapting enterprise security architectures to counter scalable, automated, and multimodal deception</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12 of 14</a:t>
            </a:r>
          </a:p>
        </p:txBody>
      </p:sp>
      <p:sp>
        <p:nvSpPr>
          <p:cNvPr id="11" name="Rounded Rectangle 10"/>
          <p:cNvSpPr/>
          <p:nvPr/>
        </p:nvSpPr>
        <p:spPr>
          <a:xfrm>
            <a:off x="731520" y="1600200"/>
            <a:ext cx="10728655" cy="868680"/>
          </a:xfrm>
          <a:prstGeom prst="roundRect">
            <a:avLst/>
          </a:prstGeom>
          <a:solidFill>
            <a:srgbClr val="0F172A"/>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09728"/>
          <a:lstStyle/>
          <a:p>
            <a:pPr algn="ctr">
              <a:spcAft>
                <a:spcPts val="200"/>
              </a:spcAft>
              <a:defRPr sz="950" b="1">
                <a:solidFill>
                  <a:srgbClr val="38BDF8"/>
                </a:solidFill>
                <a:latin typeface="Helvetica"/>
              </a:defRPr>
            </a:pPr>
            <a:r>
              <a:t>THE CORE ARCHITECTURAL EQUATION</a:t>
            </a:r>
          </a:p>
          <a:p>
            <a:r>
              <a:rPr sz="1200" b="1">
                <a:solidFill>
                  <a:srgbClr val="F8FAFC"/>
                </a:solidFill>
                <a:latin typeface="Helvetica"/>
              </a:rPr>
              <a:t>HUMAN TRUST  +  AI-ENABLED SYNTHETIC MEDIA  =  THE MANDATE FOR CONTINUOUS VERIFICATION</a:t>
            </a:r>
          </a:p>
        </p:txBody>
      </p:sp>
      <p:sp>
        <p:nvSpPr>
          <p:cNvPr id="12" name="Rounded Rectangle 11"/>
          <p:cNvSpPr/>
          <p:nvPr/>
        </p:nvSpPr>
        <p:spPr>
          <a:xfrm>
            <a:off x="731520" y="2651760"/>
            <a:ext cx="5230368" cy="169164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28016"/>
          <a:lstStyle/>
          <a:p>
            <a:pPr algn="ctr">
              <a:defRPr sz="1150" b="1">
                <a:solidFill>
                  <a:srgbClr val="38BDF8"/>
                </a:solidFill>
                <a:latin typeface="Helvetica"/>
              </a:defRPr>
            </a:pPr>
            <a:r>
              <a:t>1. ZERO TRUST ARCHITECTURE</a:t>
            </a:r>
          </a:p>
          <a:p>
            <a:pPr>
              <a:spcAft>
                <a:spcPts val="400"/>
              </a:spcAft>
              <a:defRPr sz="850" b="1">
                <a:solidFill>
                  <a:srgbClr val="94A3B8"/>
                </a:solidFill>
                <a:latin typeface="Helvetica"/>
              </a:defRPr>
            </a:pPr>
            <a:r>
              <a:t>“NEVER TRUST, ALWAYS VERIFY”</a:t>
            </a:r>
          </a:p>
          <a:p>
            <a:pPr>
              <a:defRPr sz="919">
                <a:solidFill>
                  <a:srgbClr val="CBD5E1"/>
                </a:solidFill>
                <a:latin typeface="Arial"/>
              </a:defRPr>
            </a:pPr>
            <a:r>
              <a:t>Eliminate implicit trust based on network location or apparent identity. Every access request, API call, and transaction must be continuously authenticated, authorized, and cryptographically validated regardless of whether it originates inside or outside the firewall.</a:t>
            </a:r>
          </a:p>
        </p:txBody>
      </p:sp>
      <p:sp>
        <p:nvSpPr>
          <p:cNvPr id="13" name="Rounded Rectangle 12"/>
          <p:cNvSpPr/>
          <p:nvPr/>
        </p:nvSpPr>
        <p:spPr>
          <a:xfrm>
            <a:off x="6227064" y="2651760"/>
            <a:ext cx="5230368" cy="169164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28016"/>
          <a:lstStyle/>
          <a:p>
            <a:pPr algn="ctr">
              <a:defRPr sz="1150" b="1">
                <a:solidFill>
                  <a:srgbClr val="34D399"/>
                </a:solidFill>
                <a:latin typeface="Helvetica"/>
              </a:defRPr>
            </a:pPr>
            <a:r>
              <a:t>2. LEAST PRIVILEGE &amp; DUAL CONTROL</a:t>
            </a:r>
          </a:p>
          <a:p>
            <a:pPr>
              <a:spcAft>
                <a:spcPts val="400"/>
              </a:spcAft>
              <a:defRPr sz="850" b="1">
                <a:solidFill>
                  <a:srgbClr val="94A3B8"/>
                </a:solidFill>
                <a:latin typeface="Helvetica"/>
              </a:defRPr>
            </a:pPr>
            <a:r>
              <a:t>SEPARATION OF DUTIES</a:t>
            </a:r>
          </a:p>
          <a:p>
            <a:pPr>
              <a:defRPr sz="919">
                <a:solidFill>
                  <a:srgbClr val="CBD5E1"/>
                </a:solidFill>
                <a:latin typeface="Arial"/>
              </a:defRPr>
            </a:pPr>
            <a:r>
              <a:t>Limit user access rights strictly to the minimum necessary for daily duties. Mandate multi-party consensus (dual authorization) for high-value financial transactions or critical system configuration changes to prevent single-point exploitation.</a:t>
            </a:r>
          </a:p>
        </p:txBody>
      </p:sp>
      <p:sp>
        <p:nvSpPr>
          <p:cNvPr id="14" name="Rounded Rectangle 13"/>
          <p:cNvSpPr/>
          <p:nvPr/>
        </p:nvSpPr>
        <p:spPr>
          <a:xfrm>
            <a:off x="731520" y="4480560"/>
            <a:ext cx="5230368" cy="169164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28016"/>
          <a:lstStyle/>
          <a:p>
            <a:pPr algn="ctr">
              <a:defRPr sz="1150" b="1">
                <a:solidFill>
                  <a:srgbClr val="FBBF24"/>
                </a:solidFill>
                <a:latin typeface="Helvetica"/>
              </a:defRPr>
            </a:pPr>
            <a:r>
              <a:t>3. CONTEXTUAL ANOMALY TELEMETRY</a:t>
            </a:r>
          </a:p>
          <a:p>
            <a:pPr>
              <a:spcAft>
                <a:spcPts val="400"/>
              </a:spcAft>
              <a:defRPr sz="850" b="1">
                <a:solidFill>
                  <a:srgbClr val="94A3B8"/>
                </a:solidFill>
                <a:latin typeface="Helvetica"/>
              </a:defRPr>
            </a:pPr>
            <a:r>
              <a:t>BEHAVIORAL BASELINE ANALYTICS</a:t>
            </a:r>
          </a:p>
          <a:p>
            <a:pPr>
              <a:defRPr sz="919">
                <a:solidFill>
                  <a:srgbClr val="CBD5E1"/>
                </a:solidFill>
                <a:latin typeface="Arial"/>
              </a:defRPr>
            </a:pPr>
            <a:r>
              <a:t>Deploy machine learning analytics to identify behavioral deviations—unusual access hours, uncharacteristic data exfiltration, or sudden wire instruction alterations—detecting compromised sessions even when valid credentials are used.</a:t>
            </a:r>
          </a:p>
        </p:txBody>
      </p:sp>
      <p:sp>
        <p:nvSpPr>
          <p:cNvPr id="15" name="Rounded Rectangle 14"/>
          <p:cNvSpPr/>
          <p:nvPr/>
        </p:nvSpPr>
        <p:spPr>
          <a:xfrm>
            <a:off x="6227064" y="4480560"/>
            <a:ext cx="5230368" cy="1691640"/>
          </a:xfrm>
          <a:prstGeom prst="roundRect">
            <a:avLst/>
          </a:prstGeom>
          <a:solidFill>
            <a:srgbClr val="151E32"/>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128016"/>
          <a:lstStyle/>
          <a:p>
            <a:pPr algn="ctr">
              <a:defRPr sz="1150" b="1">
                <a:solidFill>
                  <a:srgbClr val="A78BFA"/>
                </a:solidFill>
                <a:latin typeface="Helvetica"/>
              </a:defRPr>
            </a:pPr>
            <a:r>
              <a:t>4. ADAPTIVE RESILIENCE TRAINING</a:t>
            </a:r>
          </a:p>
          <a:p>
            <a:pPr>
              <a:spcAft>
                <a:spcPts val="400"/>
              </a:spcAft>
              <a:defRPr sz="850" b="1">
                <a:solidFill>
                  <a:srgbClr val="94A3B8"/>
                </a:solidFill>
                <a:latin typeface="Helvetica"/>
              </a:defRPr>
            </a:pPr>
            <a:r>
              <a:t>HABIT-BUILDING OVER PUNISHMENT</a:t>
            </a:r>
          </a:p>
          <a:p>
            <a:pPr>
              <a:defRPr sz="919">
                <a:solidFill>
                  <a:srgbClr val="CBD5E1"/>
                </a:solidFill>
                <a:latin typeface="Arial"/>
              </a:defRPr>
            </a:pPr>
            <a:r>
              <a:t>Move away from punitive 'gotcha' phishing tests toward supportive, scenario-based resilience training. Build an organizational culture that rewards healthy skepticism, routine verification, and transparent disclosure.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SYNTHESIS &amp; SUMMARY • EXECUTIVE TAKEAWAYS</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Key Takeaways: Navigating Social Engineering in the AI Era</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Five fundamental conclusions for cybersecurity students, practitioners, and organizations</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13 of 14</a:t>
            </a:r>
          </a:p>
        </p:txBody>
      </p:sp>
      <p:sp>
        <p:nvSpPr>
          <p:cNvPr id="11" name="Rounded Rectangle 10"/>
          <p:cNvSpPr/>
          <p:nvPr/>
        </p:nvSpPr>
        <p:spPr>
          <a:xfrm>
            <a:off x="731520" y="1600200"/>
            <a:ext cx="10728655" cy="77724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100" b="1">
                <a:solidFill>
                  <a:srgbClr val="38BDF8"/>
                </a:solidFill>
                <a:latin typeface="Helvetica"/>
              </a:rPr>
              <a:t>1. COGNITION OVER CODE  —  </a:t>
            </a:r>
            <a:r>
              <a:rPr sz="1000">
                <a:solidFill>
                  <a:srgbClr val="F8FAFC"/>
                </a:solidFill>
                <a:latin typeface="Arial"/>
              </a:rPr>
              <a:t>Social engineering targets human psychology, emotional instincts, and operational trust rather than underlying software flaws. Strong technical perimeters mean attackers focus on manipulating decisions.</a:t>
            </a:r>
          </a:p>
        </p:txBody>
      </p:sp>
      <p:sp>
        <p:nvSpPr>
          <p:cNvPr id="12" name="Rounded Rectangle 11"/>
          <p:cNvSpPr/>
          <p:nvPr/>
        </p:nvSpPr>
        <p:spPr>
          <a:xfrm>
            <a:off x="731520" y="2487168"/>
            <a:ext cx="10728655" cy="777240"/>
          </a:xfrm>
          <a:prstGeom prst="roundRect">
            <a:avLst/>
          </a:prstGeom>
          <a:solidFill>
            <a:srgbClr val="151E32"/>
          </a:solidFill>
          <a:ln w="1524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100" b="1">
                <a:solidFill>
                  <a:srgbClr val="38BDF8"/>
                </a:solidFill>
                <a:latin typeface="Helvetica"/>
              </a:rPr>
              <a:t>2. A SPECTRUM OF DECEPTION  —  </a:t>
            </a:r>
            <a:r>
              <a:rPr sz="1000">
                <a:solidFill>
                  <a:srgbClr val="F8FAFC"/>
                </a:solidFill>
                <a:latin typeface="Arial"/>
              </a:rPr>
              <a:t>Phishing, spear phishing, smishing, vishing, and Business Email Compromise represent different delivery channels of the exact same core psychological exploit.</a:t>
            </a:r>
          </a:p>
        </p:txBody>
      </p:sp>
      <p:sp>
        <p:nvSpPr>
          <p:cNvPr id="13" name="Rounded Rectangle 12"/>
          <p:cNvSpPr/>
          <p:nvPr/>
        </p:nvSpPr>
        <p:spPr>
          <a:xfrm>
            <a:off x="731520" y="3374136"/>
            <a:ext cx="10728655" cy="777240"/>
          </a:xfrm>
          <a:prstGeom prst="roundRect">
            <a:avLst/>
          </a:prstGeom>
          <a:solidFill>
            <a:srgbClr val="151E32"/>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100" b="1">
                <a:solidFill>
                  <a:srgbClr val="FBBF24"/>
                </a:solidFill>
                <a:latin typeface="Helvetica"/>
              </a:rPr>
              <a:t>3. AI AS A FORCE MULTIPLIER  —  </a:t>
            </a:r>
            <a:r>
              <a:rPr sz="1000">
                <a:solidFill>
                  <a:srgbClr val="F8FAFC"/>
                </a:solidFill>
                <a:latin typeface="Arial"/>
              </a:rPr>
              <a:t>Generative AI enhances the speed, personalization, linguistic naturalness, and scale of attacks—substantially reducing the operational cost and technical skill required for deception.</a:t>
            </a:r>
          </a:p>
        </p:txBody>
      </p:sp>
      <p:sp>
        <p:nvSpPr>
          <p:cNvPr id="14" name="Rounded Rectangle 13"/>
          <p:cNvSpPr/>
          <p:nvPr/>
        </p:nvSpPr>
        <p:spPr>
          <a:xfrm>
            <a:off x="731520" y="4261104"/>
            <a:ext cx="10728655" cy="777240"/>
          </a:xfrm>
          <a:prstGeom prst="roundRect">
            <a:avLst/>
          </a:prstGeom>
          <a:solidFill>
            <a:srgbClr val="151E32"/>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100" b="1">
                <a:solidFill>
                  <a:srgbClr val="F87171"/>
                </a:solidFill>
                <a:latin typeface="Helvetica"/>
              </a:rPr>
              <a:t>4. THE EROSION OF SENSORY TRUST  —  </a:t>
            </a:r>
            <a:r>
              <a:rPr sz="1000">
                <a:solidFill>
                  <a:srgbClr val="F8FAFC"/>
                </a:solidFill>
                <a:latin typeface="Arial"/>
              </a:rPr>
              <a:t>Multimodal synthetic media (cloned audio, deepfake video, stylometric text) means visual and vocal familiarity can no longer be accepted as definitive proof of identity.</a:t>
            </a:r>
          </a:p>
        </p:txBody>
      </p:sp>
      <p:sp>
        <p:nvSpPr>
          <p:cNvPr id="15" name="Rounded Rectangle 14"/>
          <p:cNvSpPr/>
          <p:nvPr/>
        </p:nvSpPr>
        <p:spPr>
          <a:xfrm>
            <a:off x="731520" y="5148072"/>
            <a:ext cx="10728655" cy="777240"/>
          </a:xfrm>
          <a:prstGeom prst="roundRect">
            <a:avLst/>
          </a:prstGeom>
          <a:solidFill>
            <a:srgbClr val="151E3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r>
              <a:rPr sz="1100" b="1">
                <a:solidFill>
                  <a:srgbClr val="34D399"/>
                </a:solidFill>
                <a:latin typeface="Helvetica"/>
              </a:rPr>
              <a:t>5. COLLABORATIVE DEFENSE-IN-DEPTH  —  </a:t>
            </a:r>
            <a:r>
              <a:rPr sz="1000">
                <a:solidFill>
                  <a:srgbClr val="F8FAFC"/>
                </a:solidFill>
                <a:latin typeface="Arial"/>
              </a:rPr>
              <a:t>Resilient cybersecurity requires an integrated triad: robust technical controls (FIDO2, DMARC), verifiable operational procedures (Out-of-Band verification), and trained human awareness.</a:t>
            </a:r>
          </a:p>
        </p:txBody>
      </p:sp>
      <p:sp>
        <p:nvSpPr>
          <p:cNvPr id="16" name="Rounded Rectangle 15"/>
          <p:cNvSpPr/>
          <p:nvPr/>
        </p:nvSpPr>
        <p:spPr>
          <a:xfrm>
            <a:off x="731520" y="5742432"/>
            <a:ext cx="10728655" cy="41148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73152"/>
          <a:lstStyle/>
          <a:p>
            <a:pPr algn="ctr">
              <a:defRPr sz="950" b="1">
                <a:solidFill>
                  <a:srgbClr val="38BDF8"/>
                </a:solidFill>
                <a:latin typeface="Arial"/>
              </a:defRPr>
            </a:pPr>
            <a:r>
              <a:t>CLOSING PRINCIPLE: The objective of modern cybersecurity is not cynical universal distrust. It is establishing unambiguous, verifiable trust before high-consequence actions are executed.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56032"/>
          </a:xfrm>
          <a:prstGeom prst="rect">
            <a:avLst/>
          </a:prstGeom>
          <a:noFill/>
        </p:spPr>
        <p:txBody>
          <a:bodyPr wrap="square" lIns="0" rIns="0" tIns="0" bIns="0">
            <a:spAutoFit/>
          </a:bodyPr>
          <a:lstStyle/>
          <a:p>
            <a:pPr>
              <a:defRPr sz="950" b="1">
                <a:solidFill>
                  <a:srgbClr val="38BDF8"/>
                </a:solidFill>
                <a:latin typeface="Helvetica"/>
              </a:defRPr>
            </a:pPr>
            <a:r>
              <a:t>SCHOLARLY CITATIONS • CURRICULUM &amp; INSTITUTIONAL SOURCES</a:t>
            </a:r>
          </a:p>
        </p:txBody>
      </p:sp>
      <p:sp>
        <p:nvSpPr>
          <p:cNvPr id="4" name="TextBox 3"/>
          <p:cNvSpPr txBox="1"/>
          <p:nvPr/>
        </p:nvSpPr>
        <p:spPr>
          <a:xfrm>
            <a:off x="731520" y="621792"/>
            <a:ext cx="10728655" cy="438912"/>
          </a:xfrm>
          <a:prstGeom prst="rect">
            <a:avLst/>
          </a:prstGeom>
          <a:noFill/>
        </p:spPr>
        <p:txBody>
          <a:bodyPr wrap="square" lIns="0" rIns="0" tIns="0" bIns="0">
            <a:spAutoFit/>
          </a:bodyPr>
          <a:lstStyle/>
          <a:p>
            <a:pPr>
              <a:defRPr sz="2100" b="1">
                <a:solidFill>
                  <a:srgbClr val="F8FAFC"/>
                </a:solidFill>
                <a:latin typeface="Helvetica"/>
              </a:defRPr>
            </a:pPr>
            <a:r>
              <a:t>References &amp; Authoritative Cyber Security Sources</a:t>
            </a:r>
          </a:p>
        </p:txBody>
      </p:sp>
      <p:sp>
        <p:nvSpPr>
          <p:cNvPr id="5" name="TextBox 4"/>
          <p:cNvSpPr txBox="1"/>
          <p:nvPr/>
        </p:nvSpPr>
        <p:spPr>
          <a:xfrm>
            <a:off x="731520" y="1078992"/>
            <a:ext cx="10728655" cy="292608"/>
          </a:xfrm>
          <a:prstGeom prst="rect">
            <a:avLst/>
          </a:prstGeom>
          <a:noFill/>
        </p:spPr>
        <p:txBody>
          <a:bodyPr wrap="square" lIns="0" rIns="0" tIns="0" bIns="0">
            <a:spAutoFit/>
          </a:bodyPr>
          <a:lstStyle/>
          <a:p>
            <a:pPr>
              <a:defRPr sz="1150">
                <a:solidFill>
                  <a:srgbClr val="94A3B8"/>
                </a:solidFill>
                <a:latin typeface="Arial"/>
              </a:defRPr>
            </a:pPr>
            <a:r>
              <a:t>Authoritative academic literature, international standards, and curriculum alignment</a:t>
            </a:r>
          </a:p>
        </p:txBody>
      </p:sp>
      <p:sp>
        <p:nvSpPr>
          <p:cNvPr id="6" name="Rectangle 5"/>
          <p:cNvSpPr/>
          <p:nvPr/>
        </p:nvSpPr>
        <p:spPr>
          <a:xfrm>
            <a:off x="731520" y="1408176"/>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236208"/>
            <a:ext cx="10728655" cy="13716"/>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27648"/>
            <a:ext cx="4572000" cy="274320"/>
          </a:xfrm>
          <a:prstGeom prst="rect">
            <a:avLst/>
          </a:prstGeom>
          <a:noFill/>
        </p:spPr>
        <p:txBody>
          <a:bodyPr wrap="none" lIns="0" rIns="0" tIns="0" bIns="0">
            <a:spAutoFit/>
          </a:bodyPr>
          <a:lstStyle/>
          <a:p>
            <a:pPr>
              <a:defRPr sz="900">
                <a:solidFill>
                  <a:srgbClr val="64748B"/>
                </a:solidFill>
                <a:latin typeface="Arial"/>
              </a:defRPr>
            </a:pPr>
            <a:r>
              <a:t>Social Engineering in the Age of AI • Active Learning Activity</a:t>
            </a:r>
          </a:p>
        </p:txBody>
      </p:sp>
      <p:sp>
        <p:nvSpPr>
          <p:cNvPr id="9" name="TextBox 8"/>
          <p:cNvSpPr txBox="1"/>
          <p:nvPr/>
        </p:nvSpPr>
        <p:spPr>
          <a:xfrm>
            <a:off x="4114800" y="6327648"/>
            <a:ext cx="3962095" cy="274320"/>
          </a:xfrm>
          <a:prstGeom prst="rect">
            <a:avLst/>
          </a:prstGeom>
          <a:noFill/>
        </p:spPr>
        <p:txBody>
          <a:bodyPr wrap="none" lIns="0" rIns="0" tIns="0" bIns="0">
            <a:spAutoFit/>
          </a:bodyPr>
          <a:lstStyle/>
          <a:p>
            <a:pPr algn="ctr">
              <a:defRPr sz="900">
                <a:solidFill>
                  <a:srgbClr val="64748B"/>
                </a:solidFill>
                <a:latin typeface="Arial"/>
              </a:defRPr>
            </a:pPr>
            <a:r>
              <a:t>Daksh Parekh | B.Sc. CA &amp; IT (4-Year Honours) | 2026–27</a:t>
            </a:r>
          </a:p>
        </p:txBody>
      </p:sp>
      <p:sp>
        <p:nvSpPr>
          <p:cNvPr id="10" name="TextBox 9"/>
          <p:cNvSpPr txBox="1"/>
          <p:nvPr/>
        </p:nvSpPr>
        <p:spPr>
          <a:xfrm>
            <a:off x="8716975" y="6327648"/>
            <a:ext cx="2743200" cy="274320"/>
          </a:xfrm>
          <a:prstGeom prst="rect">
            <a:avLst/>
          </a:prstGeom>
          <a:noFill/>
        </p:spPr>
        <p:txBody>
          <a:bodyPr wrap="none" lIns="0" rIns="0" tIns="0" bIns="0">
            <a:spAutoFit/>
          </a:bodyPr>
          <a:lstStyle/>
          <a:p>
            <a:pPr algn="r">
              <a:defRPr b="1" sz="950">
                <a:solidFill>
                  <a:srgbClr val="38BDF8"/>
                </a:solidFill>
                <a:latin typeface="Helvetica"/>
              </a:defRPr>
            </a:pPr>
            <a:r>
              <a:t>Slide 14 of 14</a:t>
            </a:r>
          </a:p>
        </p:txBody>
      </p:sp>
      <p:sp>
        <p:nvSpPr>
          <p:cNvPr id="11" name="Rounded Rectangle 10"/>
          <p:cNvSpPr/>
          <p:nvPr/>
        </p:nvSpPr>
        <p:spPr>
          <a:xfrm>
            <a:off x="731520" y="1600200"/>
            <a:ext cx="10728655" cy="749808"/>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82296"/>
          <a:lstStyle/>
          <a:p>
            <a:pPr algn="ctr">
              <a:defRPr sz="1000" b="1">
                <a:solidFill>
                  <a:srgbClr val="38BDF8"/>
                </a:solidFill>
                <a:latin typeface="Helvetica"/>
              </a:defRPr>
            </a:pPr>
            <a:r>
              <a:t>1. ENISA — EUROPEAN UNION AGENCY FOR CYBERSECURITY (2025–2026)</a:t>
            </a:r>
          </a:p>
          <a:p>
            <a:pPr>
              <a:defRPr sz="950" b="1">
                <a:solidFill>
                  <a:srgbClr val="F8FAFC"/>
                </a:solidFill>
                <a:latin typeface="Arial"/>
              </a:defRPr>
            </a:pPr>
            <a:r>
              <a:t>ENISA Threat Landscape: An Analysis of Emerging Cyber Threats, Social Engineering, and AI-Driven Exploits.</a:t>
            </a:r>
          </a:p>
          <a:p>
            <a:pPr>
              <a:defRPr sz="850">
                <a:solidFill>
                  <a:srgbClr val="94A3B8"/>
                </a:solidFill>
                <a:latin typeface="Arial"/>
              </a:defRPr>
            </a:pPr>
            <a:r>
              <a:t>Publications Office of the European Union. Direct source for threat actor evolution, capability scaling, and synthetic deception vectors. URL: https://www.enisa.europa.eu/publications/enisa-threat-landscape</a:t>
            </a:r>
          </a:p>
        </p:txBody>
      </p:sp>
      <p:sp>
        <p:nvSpPr>
          <p:cNvPr id="12" name="Rounded Rectangle 11"/>
          <p:cNvSpPr/>
          <p:nvPr/>
        </p:nvSpPr>
        <p:spPr>
          <a:xfrm>
            <a:off x="731520" y="2441448"/>
            <a:ext cx="10728655" cy="749808"/>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82296"/>
          <a:lstStyle/>
          <a:p>
            <a:pPr algn="ctr">
              <a:defRPr sz="1000" b="1">
                <a:solidFill>
                  <a:srgbClr val="38BDF8"/>
                </a:solidFill>
                <a:latin typeface="Helvetica"/>
              </a:defRPr>
            </a:pPr>
            <a:r>
              <a:t>2. NATIONAL INSTITUTE OF STANDARDS AND TECHNOLOGY — NIST (2023–2024)</a:t>
            </a:r>
          </a:p>
          <a:p>
            <a:pPr>
              <a:defRPr sz="950" b="1">
                <a:solidFill>
                  <a:srgbClr val="F8FAFC"/>
                </a:solidFill>
                <a:latin typeface="Arial"/>
              </a:defRPr>
            </a:pPr>
            <a:r>
              <a:t>Human-Centered Cybersecurity: Phishing Detection, Analysis, and Susceptibility Framework.</a:t>
            </a:r>
          </a:p>
          <a:p>
            <a:pPr>
              <a:defRPr sz="850">
                <a:solidFill>
                  <a:srgbClr val="94A3B8"/>
                </a:solidFill>
                <a:latin typeface="Arial"/>
              </a:defRPr>
            </a:pPr>
            <a:r>
              <a:t>NIST Special Publication Series. U.S. Department of Commerce. Foundational source for cognitive heuristics, employee decision-making, and behavioral defenses. URL: https://csrc.nist.gov/publications</a:t>
            </a:r>
          </a:p>
        </p:txBody>
      </p:sp>
      <p:sp>
        <p:nvSpPr>
          <p:cNvPr id="13" name="Rounded Rectangle 12"/>
          <p:cNvSpPr/>
          <p:nvPr/>
        </p:nvSpPr>
        <p:spPr>
          <a:xfrm>
            <a:off x="731520" y="3282696"/>
            <a:ext cx="10728655" cy="749808"/>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82296"/>
          <a:lstStyle/>
          <a:p>
            <a:pPr algn="ctr">
              <a:defRPr sz="1000" b="1">
                <a:solidFill>
                  <a:srgbClr val="FBBF24"/>
                </a:solidFill>
                <a:latin typeface="Helvetica"/>
              </a:defRPr>
            </a:pPr>
            <a:r>
              <a:t>3. NATIONAL INSTITUTE OF STANDARDS AND TECHNOLOGY — NIST (2024–2025)</a:t>
            </a:r>
          </a:p>
          <a:p>
            <a:pPr>
              <a:defRPr sz="950" b="1">
                <a:solidFill>
                  <a:srgbClr val="F8FAFC"/>
                </a:solidFill>
                <a:latin typeface="Arial"/>
              </a:defRPr>
            </a:pPr>
            <a:r>
              <a:t>Adversarial Machine Learning: A Taxonomy and Terminology of Attacks and Mitigations (NIST AI 100-2e2025).</a:t>
            </a:r>
          </a:p>
          <a:p>
            <a:pPr>
              <a:defRPr sz="850">
                <a:solidFill>
                  <a:srgbClr val="94A3B8"/>
                </a:solidFill>
                <a:latin typeface="Arial"/>
              </a:defRPr>
            </a:pPr>
            <a:r>
              <a:t>Gaithersburg, MD: NIST. Definitive taxonomic reference for generative AI risks, multimodal synthetic impersonation, and automated deception. URL: https://csrc.nist.gov/pubs/ai/100/2/e2025/final</a:t>
            </a:r>
          </a:p>
        </p:txBody>
      </p:sp>
      <p:sp>
        <p:nvSpPr>
          <p:cNvPr id="14" name="Rounded Rectangle 13"/>
          <p:cNvSpPr/>
          <p:nvPr/>
        </p:nvSpPr>
        <p:spPr>
          <a:xfrm>
            <a:off x="731520" y="4123944"/>
            <a:ext cx="10728655" cy="749808"/>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82296"/>
          <a:lstStyle/>
          <a:p>
            <a:pPr algn="ctr">
              <a:defRPr sz="1000" b="1">
                <a:solidFill>
                  <a:srgbClr val="34D399"/>
                </a:solidFill>
                <a:latin typeface="Helvetica"/>
              </a:defRPr>
            </a:pPr>
            <a:r>
              <a:t>4. UNIVERSITY CURRICULUM REFERENCE (ACADEMIC YEAR 2026–27)</a:t>
            </a:r>
          </a:p>
          <a:p>
            <a:pPr>
              <a:defRPr sz="950" b="1">
                <a:solidFill>
                  <a:srgbClr val="F8FAFC"/>
                </a:solidFill>
                <a:latin typeface="Arial"/>
              </a:defRPr>
            </a:pPr>
            <a:r>
              <a:t>Course Code: US07HMABCA02 — Fundamentals of Cyber Security (Units 1–3: Threat Paradigms, Social Engineering &amp; Defense).</a:t>
            </a:r>
          </a:p>
          <a:p>
            <a:pPr>
              <a:defRPr sz="850">
                <a:solidFill>
                  <a:srgbClr val="94A3B8"/>
                </a:solidFill>
                <a:latin typeface="Arial"/>
              </a:defRPr>
            </a:pPr>
            <a:r>
              <a:t>B.Sc. Computer Applications &amp; Information Technology (4-Year Honours Programme). Core academic alignment for terminology, attack categories, MFA, and access controls.</a:t>
            </a:r>
          </a:p>
        </p:txBody>
      </p:sp>
      <p:sp>
        <p:nvSpPr>
          <p:cNvPr id="15" name="Rounded Rectangle 14"/>
          <p:cNvSpPr/>
          <p:nvPr/>
        </p:nvSpPr>
        <p:spPr>
          <a:xfrm>
            <a:off x="731520" y="4965192"/>
            <a:ext cx="10728655" cy="749808"/>
          </a:xfrm>
          <a:prstGeom prst="roundRect">
            <a:avLst/>
          </a:prstGeom>
          <a:solidFill>
            <a:srgbClr val="151E32"/>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19456" rIns="219456" tIns="82296"/>
          <a:lstStyle/>
          <a:p>
            <a:pPr algn="ctr">
              <a:defRPr sz="1000" b="1">
                <a:solidFill>
                  <a:srgbClr val="A78BFA"/>
                </a:solidFill>
                <a:latin typeface="Helvetica"/>
              </a:defRPr>
            </a:pPr>
            <a:r>
              <a:t>5. CYBERSECURITY AND INFRASTRUCTURE SECURITY AGENCY — CISA (2024–2025)</a:t>
            </a:r>
          </a:p>
          <a:p>
            <a:pPr>
              <a:defRPr sz="950" b="1">
                <a:solidFill>
                  <a:srgbClr val="F8FAFC"/>
                </a:solidFill>
                <a:latin typeface="Arial"/>
              </a:defRPr>
            </a:pPr>
            <a:r>
              <a:t>Phishing-Resistant MFA Implementation and Enterprise Social Engineering Defense Guidelines.</a:t>
            </a:r>
          </a:p>
          <a:p>
            <a:pPr>
              <a:defRPr sz="850">
                <a:solidFill>
                  <a:srgbClr val="94A3B8"/>
                </a:solidFill>
                <a:latin typeface="Arial"/>
              </a:defRPr>
            </a:pPr>
            <a:r>
              <a:t>CISA Technical Guidance Series. Operational reference for FIDO2/WebAuthn migration, out-of-band verification standards, and zero trust identity principles. URL: https://www.cisa.gov</a:t>
            </a:r>
          </a:p>
        </p:txBody>
      </p:sp>
      <p:sp>
        <p:nvSpPr>
          <p:cNvPr id="16" name="Rounded Rectangle 15"/>
          <p:cNvSpPr/>
          <p:nvPr/>
        </p:nvSpPr>
        <p:spPr>
          <a:xfrm>
            <a:off x="731520" y="5806440"/>
            <a:ext cx="10728655" cy="347472"/>
          </a:xfrm>
          <a:prstGeom prst="roundRect">
            <a:avLst/>
          </a:prstGeom>
          <a:solidFill>
            <a:srgbClr val="0F172A"/>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54864"/>
          <a:lstStyle/>
          <a:p>
            <a:pPr algn="ctr">
              <a:defRPr sz="919" b="1">
                <a:solidFill>
                  <a:srgbClr val="38BDF8"/>
                </a:solidFill>
                <a:latin typeface="Arial"/>
              </a:defRPr>
            </a:pPr>
            <a:r>
              <a:t>ACTIVE LEARNING SUBMISSION: Prepared by Daksh Parekh | B.Sc. CA &amp; IT (4-Year Honours) | Academic Year 2026–27 | Evaluated under Cyber Security (US07HMABCA02)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